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Arial"/>
              </a:defRPr>
            </a:pPr>
            <a:r>
              <a:rPr lang="en-US" sz="1400" b="0" i="0" u="none" strike="noStrike">
                <a:solidFill>
                  <a:srgbClr val="1E2761"/>
                </a:solidFill>
                <a:latin typeface="Arial"/>
              </a:rPr>
              <a:t>Loan Approval by Credit History</a:t>
            </a:r>
          </a:p>
        </c:rich>
      </c:tx>
      <c:overlay val="0"/>
    </c:title>
    <c:autoTitleDeleted val="0"/>
    <c:plotArea>
      <c:layout/>
      <c:barChart>
        <c:barDir val="col"/>
        <c:grouping val="stacked"/>
        <c:varyColors val="0"/>
        <c:ser>
          <c:idx val="0"/>
          <c:order val="0"/>
          <c:tx>
            <c:strRef>
              <c:f>Sheet1!$B$1</c:f>
              <c:strCache>
                <c:ptCount val="1"/>
                <c:pt idx="0">
                  <c:v>Rejected</c:v>
                </c:pt>
              </c:strCache>
            </c:strRef>
          </c:tx>
          <c:spPr>
            <a:solidFill>
              <a:srgbClr val="B23A48"/>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Bad Credit History</c:v>
                </c:pt>
                <c:pt idx="1">
                  <c:v>Good Credit History</c:v>
                </c:pt>
              </c:strCache>
            </c:strRef>
          </c:cat>
          <c:val>
            <c:numRef>
              <c:f>Sheet1!$B$2:$B$3</c:f>
              <c:numCache>
                <c:formatCode>General</c:formatCode>
                <c:ptCount val="2"/>
                <c:pt idx="0">
                  <c:v>82</c:v>
                </c:pt>
                <c:pt idx="1">
                  <c:v>110</c:v>
                </c:pt>
              </c:numCache>
            </c:numRef>
          </c:val>
          <c:extLst>
            <c:ext xmlns:c16="http://schemas.microsoft.com/office/drawing/2014/chart" uri="{C3380CC4-5D6E-409C-BE32-E72D297353CC}">
              <c16:uniqueId val="{00000000-2224-432F-8E58-FCB1EE2783F2}"/>
            </c:ext>
          </c:extLst>
        </c:ser>
        <c:ser>
          <c:idx val="1"/>
          <c:order val="1"/>
          <c:tx>
            <c:strRef>
              <c:f>Sheet1!$C$1</c:f>
              <c:strCache>
                <c:ptCount val="1"/>
                <c:pt idx="0">
                  <c:v>Approved</c:v>
                </c:pt>
              </c:strCache>
            </c:strRef>
          </c:tx>
          <c:spPr>
            <a:solidFill>
              <a:srgbClr val="2E7D32"/>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Bad Credit History</c:v>
                </c:pt>
                <c:pt idx="1">
                  <c:v>Good Credit History</c:v>
                </c:pt>
              </c:strCache>
            </c:strRef>
          </c:cat>
          <c:val>
            <c:numRef>
              <c:f>Sheet1!$C$2:$C$3</c:f>
              <c:numCache>
                <c:formatCode>General</c:formatCode>
                <c:ptCount val="2"/>
                <c:pt idx="0">
                  <c:v>7</c:v>
                </c:pt>
                <c:pt idx="1">
                  <c:v>415</c:v>
                </c:pt>
              </c:numCache>
            </c:numRef>
          </c:val>
          <c:extLst>
            <c:ext xmlns:c16="http://schemas.microsoft.com/office/drawing/2014/chart" uri="{C3380CC4-5D6E-409C-BE32-E72D297353CC}">
              <c16:uniqueId val="{00000001-2224-432F-8E58-FCB1EE2783F2}"/>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Arial"/>
              </a:defRPr>
            </a:pPr>
            <a:r>
              <a:rPr lang="en-IN" sz="1300" b="0" i="0" u="none" strike="noStrike">
                <a:solidFill>
                  <a:srgbClr val="1E2761"/>
                </a:solidFill>
                <a:latin typeface="Arial"/>
              </a:rPr>
              <a:t>Average Applicant Income</a:t>
            </a:r>
          </a:p>
        </c:rich>
      </c:tx>
      <c:overlay val="0"/>
    </c:title>
    <c:autoTitleDeleted val="0"/>
    <c:plotArea>
      <c:layout/>
      <c:barChart>
        <c:barDir val="col"/>
        <c:grouping val="clustered"/>
        <c:varyColors val="0"/>
        <c:ser>
          <c:idx val="0"/>
          <c:order val="0"/>
          <c:tx>
            <c:strRef>
              <c:f>Sheet1!$B$1</c:f>
              <c:strCache>
                <c:ptCount val="1"/>
                <c:pt idx="0">
                  <c:v>Avg. Applicant Income (₹)</c:v>
                </c:pt>
              </c:strCache>
            </c:strRef>
          </c:tx>
          <c:spPr>
            <a:solidFill>
              <a:srgbClr val="1E2761"/>
            </a:solidFill>
            <a:effectLst/>
          </c:spPr>
          <c:invertIfNegative val="0"/>
          <c:dLbls>
            <c:numFmt formatCode="#,##0" sourceLinked="0"/>
            <c:spPr>
              <a:noFill/>
              <a:ln>
                <a:noFill/>
              </a:ln>
              <a:effectLst/>
            </c:spPr>
            <c:txPr>
              <a:bodyPr/>
              <a:lstStyle/>
              <a:p>
                <a:pPr>
                  <a:defRPr sz="12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Rejected</c:v>
                </c:pt>
                <c:pt idx="1">
                  <c:v>Approved</c:v>
                </c:pt>
              </c:strCache>
            </c:strRef>
          </c:cat>
          <c:val>
            <c:numRef>
              <c:f>Sheet1!$B$2:$B$3</c:f>
              <c:numCache>
                <c:formatCode>General</c:formatCode>
                <c:ptCount val="2"/>
                <c:pt idx="0">
                  <c:v>5446</c:v>
                </c:pt>
                <c:pt idx="1">
                  <c:v>5384</c:v>
                </c:pt>
              </c:numCache>
            </c:numRef>
          </c:val>
          <c:extLst>
            <c:ext xmlns:c16="http://schemas.microsoft.com/office/drawing/2014/chart" uri="{C3380CC4-5D6E-409C-BE32-E72D297353CC}">
              <c16:uniqueId val="{00000000-77E8-4DA1-A54A-82646E6E2C9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Arial"/>
              </a:defRPr>
            </a:pPr>
            <a:r>
              <a:rPr lang="en-IN" sz="1300" b="0" i="0" u="none" strike="noStrike">
                <a:solidFill>
                  <a:srgbClr val="1E2761"/>
                </a:solidFill>
                <a:latin typeface="Arial"/>
              </a:rPr>
              <a:t>Average Loan Amount</a:t>
            </a:r>
          </a:p>
        </c:rich>
      </c:tx>
      <c:overlay val="0"/>
    </c:title>
    <c:autoTitleDeleted val="0"/>
    <c:plotArea>
      <c:layout/>
      <c:barChart>
        <c:barDir val="col"/>
        <c:grouping val="clustered"/>
        <c:varyColors val="0"/>
        <c:ser>
          <c:idx val="0"/>
          <c:order val="0"/>
          <c:tx>
            <c:strRef>
              <c:f>Sheet1!$B$1</c:f>
              <c:strCache>
                <c:ptCount val="1"/>
                <c:pt idx="0">
                  <c:v>Avg. Loan Amount</c:v>
                </c:pt>
              </c:strCache>
            </c:strRef>
          </c:tx>
          <c:spPr>
            <a:solidFill>
              <a:srgbClr val="B08D57"/>
            </a:solidFill>
            <a:effectLst/>
          </c:spPr>
          <c:invertIfNegative val="0"/>
          <c:dLbls>
            <c:numFmt formatCode="#,##0" sourceLinked="0"/>
            <c:spPr>
              <a:noFill/>
              <a:ln>
                <a:noFill/>
              </a:ln>
              <a:effectLst/>
            </c:spPr>
            <c:txPr>
              <a:bodyPr/>
              <a:lstStyle/>
              <a:p>
                <a:pPr>
                  <a:defRPr sz="12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Rejected</c:v>
                </c:pt>
                <c:pt idx="1">
                  <c:v>Approved</c:v>
                </c:pt>
              </c:strCache>
            </c:strRef>
          </c:cat>
          <c:val>
            <c:numRef>
              <c:f>Sheet1!$B$2:$B$3</c:f>
              <c:numCache>
                <c:formatCode>General</c:formatCode>
                <c:ptCount val="2"/>
                <c:pt idx="0">
                  <c:v>150</c:v>
                </c:pt>
                <c:pt idx="1">
                  <c:v>144</c:v>
                </c:pt>
              </c:numCache>
            </c:numRef>
          </c:val>
          <c:extLst>
            <c:ext xmlns:c16="http://schemas.microsoft.com/office/drawing/2014/chart" uri="{C3380CC4-5D6E-409C-BE32-E72D297353CC}">
              <c16:uniqueId val="{00000000-7A1F-43DB-AC89-5380B1BFC54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1E2761"/>
            </a:solidFill>
            <a:effectLst/>
          </c:spPr>
          <c:invertIfNegative val="0"/>
          <c:dLbls>
            <c:numFmt formatCode="#,##0" sourceLinked="0"/>
            <c:spPr>
              <a:noFill/>
              <a:ln>
                <a:noFill/>
              </a:ln>
              <a:effectLst/>
            </c:spPr>
            <c:txPr>
              <a:bodyPr/>
              <a:lstStyle/>
              <a:p>
                <a:pPr>
                  <a:defRPr sz="9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Decision Tree</c:v>
                </c:pt>
                <c:pt idx="1">
                  <c:v>Random Forest</c:v>
                </c:pt>
                <c:pt idx="2">
                  <c:v>Logistic Regression</c:v>
                </c:pt>
              </c:strCache>
            </c:strRef>
          </c:cat>
          <c:val>
            <c:numRef>
              <c:f>Sheet1!$B$2:$B$4</c:f>
              <c:numCache>
                <c:formatCode>General</c:formatCode>
                <c:ptCount val="3"/>
                <c:pt idx="0">
                  <c:v>73.400000000000006</c:v>
                </c:pt>
                <c:pt idx="1">
                  <c:v>79.900000000000006</c:v>
                </c:pt>
                <c:pt idx="2">
                  <c:v>83.8</c:v>
                </c:pt>
              </c:numCache>
            </c:numRef>
          </c:val>
          <c:extLst>
            <c:ext xmlns:c16="http://schemas.microsoft.com/office/drawing/2014/chart" uri="{C3380CC4-5D6E-409C-BE32-E72D297353CC}">
              <c16:uniqueId val="{00000000-01EC-4869-A57E-2B4B8869686F}"/>
            </c:ext>
          </c:extLst>
        </c:ser>
        <c:ser>
          <c:idx val="1"/>
          <c:order val="1"/>
          <c:tx>
            <c:strRef>
              <c:f>Sheet1!$C$1</c:f>
              <c:strCache>
                <c:ptCount val="1"/>
                <c:pt idx="0">
                  <c:v>Precision</c:v>
                </c:pt>
              </c:strCache>
            </c:strRef>
          </c:tx>
          <c:spPr>
            <a:solidFill>
              <a:srgbClr val="B08D57"/>
            </a:solidFill>
            <a:effectLst/>
          </c:spPr>
          <c:invertIfNegative val="0"/>
          <c:dLbls>
            <c:numFmt formatCode="#,##0" sourceLinked="0"/>
            <c:spPr>
              <a:noFill/>
              <a:ln>
                <a:noFill/>
              </a:ln>
              <a:effectLst/>
            </c:spPr>
            <c:txPr>
              <a:bodyPr/>
              <a:lstStyle/>
              <a:p>
                <a:pPr>
                  <a:defRPr sz="9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Decision Tree</c:v>
                </c:pt>
                <c:pt idx="1">
                  <c:v>Random Forest</c:v>
                </c:pt>
                <c:pt idx="2">
                  <c:v>Logistic Regression</c:v>
                </c:pt>
              </c:strCache>
            </c:strRef>
          </c:cat>
          <c:val>
            <c:numRef>
              <c:f>Sheet1!$C$2:$C$4</c:f>
              <c:numCache>
                <c:formatCode>General</c:formatCode>
                <c:ptCount val="3"/>
                <c:pt idx="0">
                  <c:v>83</c:v>
                </c:pt>
                <c:pt idx="1">
                  <c:v>84.5</c:v>
                </c:pt>
                <c:pt idx="2">
                  <c:v>82.6</c:v>
                </c:pt>
              </c:numCache>
            </c:numRef>
          </c:val>
          <c:extLst>
            <c:ext xmlns:c16="http://schemas.microsoft.com/office/drawing/2014/chart" uri="{C3380CC4-5D6E-409C-BE32-E72D297353CC}">
              <c16:uniqueId val="{00000001-01EC-4869-A57E-2B4B8869686F}"/>
            </c:ext>
          </c:extLst>
        </c:ser>
        <c:ser>
          <c:idx val="2"/>
          <c:order val="2"/>
          <c:tx>
            <c:strRef>
              <c:f>Sheet1!$D$1</c:f>
              <c:strCache>
                <c:ptCount val="1"/>
                <c:pt idx="0">
                  <c:v>Recall</c:v>
                </c:pt>
              </c:strCache>
            </c:strRef>
          </c:tx>
          <c:spPr>
            <a:solidFill>
              <a:srgbClr val="6B8CBE"/>
            </a:solidFill>
            <a:effectLst/>
          </c:spPr>
          <c:invertIfNegative val="0"/>
          <c:dLbls>
            <c:numFmt formatCode="#,##0" sourceLinked="0"/>
            <c:spPr>
              <a:noFill/>
              <a:ln>
                <a:noFill/>
              </a:ln>
              <a:effectLst/>
            </c:spPr>
            <c:txPr>
              <a:bodyPr/>
              <a:lstStyle/>
              <a:p>
                <a:pPr>
                  <a:defRPr sz="9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Decision Tree</c:v>
                </c:pt>
                <c:pt idx="1">
                  <c:v>Random Forest</c:v>
                </c:pt>
                <c:pt idx="2">
                  <c:v>Logistic Regression</c:v>
                </c:pt>
              </c:strCache>
            </c:strRef>
          </c:cat>
          <c:val>
            <c:numRef>
              <c:f>Sheet1!$D$2:$D$4</c:f>
              <c:numCache>
                <c:formatCode>General</c:formatCode>
                <c:ptCount val="3"/>
                <c:pt idx="0">
                  <c:v>79.3</c:v>
                </c:pt>
                <c:pt idx="1">
                  <c:v>88.3</c:v>
                </c:pt>
                <c:pt idx="2">
                  <c:v>98.2</c:v>
                </c:pt>
              </c:numCache>
            </c:numRef>
          </c:val>
          <c:extLst>
            <c:ext xmlns:c16="http://schemas.microsoft.com/office/drawing/2014/chart" uri="{C3380CC4-5D6E-409C-BE32-E72D297353CC}">
              <c16:uniqueId val="{00000002-01EC-4869-A57E-2B4B8869686F}"/>
            </c:ext>
          </c:extLst>
        </c:ser>
        <c:ser>
          <c:idx val="3"/>
          <c:order val="3"/>
          <c:tx>
            <c:strRef>
              <c:f>Sheet1!$E$1</c:f>
              <c:strCache>
                <c:ptCount val="1"/>
                <c:pt idx="0">
                  <c:v>F1-Score</c:v>
                </c:pt>
              </c:strCache>
            </c:strRef>
          </c:tx>
          <c:spPr>
            <a:solidFill>
              <a:srgbClr val="9AA5B1"/>
            </a:solidFill>
            <a:effectLst/>
          </c:spPr>
          <c:invertIfNegative val="0"/>
          <c:dLbls>
            <c:numFmt formatCode="#,##0" sourceLinked="0"/>
            <c:spPr>
              <a:noFill/>
              <a:ln>
                <a:noFill/>
              </a:ln>
              <a:effectLst/>
            </c:spPr>
            <c:txPr>
              <a:bodyPr/>
              <a:lstStyle/>
              <a:p>
                <a:pPr>
                  <a:defRPr sz="9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Decision Tree</c:v>
                </c:pt>
                <c:pt idx="1">
                  <c:v>Random Forest</c:v>
                </c:pt>
                <c:pt idx="2">
                  <c:v>Logistic Regression</c:v>
                </c:pt>
              </c:strCache>
            </c:strRef>
          </c:cat>
          <c:val>
            <c:numRef>
              <c:f>Sheet1!$E$2:$E$4</c:f>
              <c:numCache>
                <c:formatCode>General</c:formatCode>
                <c:ptCount val="3"/>
                <c:pt idx="0">
                  <c:v>81.099999999999994</c:v>
                </c:pt>
                <c:pt idx="1">
                  <c:v>86.3</c:v>
                </c:pt>
                <c:pt idx="2">
                  <c:v>89.7</c:v>
                </c:pt>
              </c:numCache>
            </c:numRef>
          </c:val>
          <c:extLst>
            <c:ext xmlns:c16="http://schemas.microsoft.com/office/drawing/2014/chart" uri="{C3380CC4-5D6E-409C-BE32-E72D297353CC}">
              <c16:uniqueId val="{00000003-01EC-4869-A57E-2B4B8869686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max val="11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E2761"/>
                </a:solidFill>
                <a:latin typeface="Arial"/>
              </a:defRPr>
            </a:pPr>
            <a:r>
              <a:rPr lang="en-US" sz="1250" b="0" i="0" u="none" strike="noStrike">
                <a:solidFill>
                  <a:srgbClr val="1E2761"/>
                </a:solidFill>
                <a:latin typeface="Arial"/>
              </a:rPr>
              <a:t>% of Actually-Risky Applicants Correctly Flagged</a:t>
            </a:r>
          </a:p>
        </c:rich>
      </c:tx>
      <c:overlay val="0"/>
    </c:title>
    <c:autoTitleDeleted val="0"/>
    <c:plotArea>
      <c:layout/>
      <c:barChart>
        <c:barDir val="col"/>
        <c:grouping val="clustered"/>
        <c:varyColors val="0"/>
        <c:ser>
          <c:idx val="0"/>
          <c:order val="0"/>
          <c:tx>
            <c:strRef>
              <c:f>Sheet1!$B$1</c:f>
              <c:strCache>
                <c:ptCount val="1"/>
                <c:pt idx="0">
                  <c:v>Recall on Rejected applicants</c:v>
                </c:pt>
              </c:strCache>
            </c:strRef>
          </c:tx>
          <c:spPr>
            <a:solidFill>
              <a:srgbClr val="B23A48"/>
            </a:solidFill>
            <a:effectLst/>
          </c:spPr>
          <c:invertIfNegative val="0"/>
          <c:dLbls>
            <c:numFmt formatCode="0.0" sourceLinked="0"/>
            <c:spPr>
              <a:noFill/>
              <a:ln>
                <a:noFill/>
              </a:ln>
              <a:effectLst/>
            </c:spPr>
            <c:txPr>
              <a:bodyPr/>
              <a:lstStyle/>
              <a:p>
                <a:pPr>
                  <a:defRPr sz="12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Decision Tree</c:v>
                </c:pt>
                <c:pt idx="1">
                  <c:v>Random Forest</c:v>
                </c:pt>
                <c:pt idx="2">
                  <c:v>Logistic Regression</c:v>
                </c:pt>
              </c:strCache>
            </c:strRef>
          </c:cat>
          <c:val>
            <c:numRef>
              <c:f>Sheet1!$B$2:$B$4</c:f>
              <c:numCache>
                <c:formatCode>General</c:formatCode>
                <c:ptCount val="3"/>
                <c:pt idx="0">
                  <c:v>58.1</c:v>
                </c:pt>
                <c:pt idx="1">
                  <c:v>58.1</c:v>
                </c:pt>
                <c:pt idx="2">
                  <c:v>46.5</c:v>
                </c:pt>
              </c:numCache>
            </c:numRef>
          </c:val>
          <c:extLst>
            <c:ext xmlns:c16="http://schemas.microsoft.com/office/drawing/2014/chart" uri="{C3380CC4-5D6E-409C-BE32-E72D297353CC}">
              <c16:uniqueId val="{00000000-B67F-4593-A486-24EE0731704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max val="7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051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2148840"/>
            <a:ext cx="10515600" cy="91440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CREDIT RISK ANALYSIS</a:t>
            </a:r>
            <a:endParaRPr lang="en-US" sz="4600" dirty="0"/>
          </a:p>
        </p:txBody>
      </p:sp>
      <p:sp>
        <p:nvSpPr>
          <p:cNvPr id="3" name="Text 1"/>
          <p:cNvSpPr/>
          <p:nvPr/>
        </p:nvSpPr>
        <p:spPr>
          <a:xfrm>
            <a:off x="822960" y="2788920"/>
            <a:ext cx="10515600" cy="914400"/>
          </a:xfrm>
          <a:prstGeom prst="rect">
            <a:avLst/>
          </a:prstGeom>
          <a:noFill/>
          <a:ln/>
        </p:spPr>
        <p:txBody>
          <a:bodyPr wrap="square" rtlCol="0" anchor="ctr"/>
          <a:lstStyle/>
          <a:p>
            <a:pPr marL="0" indent="0">
              <a:buNone/>
            </a:pPr>
            <a:r>
              <a:rPr lang="en-US" sz="4600" b="1" dirty="0">
                <a:solidFill>
                  <a:srgbClr val="B08D57"/>
                </a:solidFill>
                <a:latin typeface="Cambria" pitchFamily="34" charset="0"/>
                <a:ea typeface="Cambria" pitchFamily="34" charset="-122"/>
                <a:cs typeface="Cambria" pitchFamily="34" charset="-120"/>
              </a:rPr>
              <a:t>SYSTEM</a:t>
            </a:r>
            <a:endParaRPr lang="en-US" sz="4600" dirty="0"/>
          </a:p>
        </p:txBody>
      </p:sp>
      <p:sp>
        <p:nvSpPr>
          <p:cNvPr id="4" name="Text 2"/>
          <p:cNvSpPr/>
          <p:nvPr/>
        </p:nvSpPr>
        <p:spPr>
          <a:xfrm>
            <a:off x="822960" y="3703320"/>
            <a:ext cx="9601200" cy="45720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Predicting Loan Approval and Credit Risk Using Machine Learning</a:t>
            </a:r>
            <a:endParaRPr lang="en-US" sz="1600" dirty="0"/>
          </a:p>
        </p:txBody>
      </p:sp>
      <p:sp>
        <p:nvSpPr>
          <p:cNvPr id="5" name="Text 3"/>
          <p:cNvSpPr/>
          <p:nvPr/>
        </p:nvSpPr>
        <p:spPr>
          <a:xfrm>
            <a:off x="822960" y="6035040"/>
            <a:ext cx="73152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Data Science Capstone Project</a:t>
            </a:r>
            <a:endParaRPr lang="en-US" sz="1200" dirty="0"/>
          </a:p>
        </p:txBody>
      </p:sp>
      <p:sp>
        <p:nvSpPr>
          <p:cNvPr id="6" name="Shape 4"/>
          <p:cNvSpPr/>
          <p:nvPr/>
        </p:nvSpPr>
        <p:spPr>
          <a:xfrm>
            <a:off x="9692640" y="548640"/>
            <a:ext cx="2011680" cy="2011680"/>
          </a:xfrm>
          <a:prstGeom prst="ellipse">
            <a:avLst/>
          </a:prstGeom>
          <a:solidFill>
            <a:srgbClr val="B08D57">
              <a:alpha val="15000"/>
            </a:srgbClr>
          </a:solidFill>
          <a:ln/>
        </p:spPr>
      </p:sp>
      <p:sp>
        <p:nvSpPr>
          <p:cNvPr id="7" name="Shape 5"/>
          <p:cNvSpPr/>
          <p:nvPr/>
        </p:nvSpPr>
        <p:spPr>
          <a:xfrm>
            <a:off x="10607040" y="1463040"/>
            <a:ext cx="1280160" cy="1280160"/>
          </a:xfrm>
          <a:prstGeom prst="ellipse">
            <a:avLst/>
          </a:prstGeom>
          <a:solidFill>
            <a:srgbClr val="CADCFC">
              <a:alpha val="12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Project Objective</a:t>
            </a:r>
            <a:endParaRPr lang="en-US" sz="3000" dirty="0"/>
          </a:p>
        </p:txBody>
      </p:sp>
      <p:sp>
        <p:nvSpPr>
          <p:cNvPr id="4" name="Text 2"/>
          <p:cNvSpPr/>
          <p:nvPr/>
        </p:nvSpPr>
        <p:spPr>
          <a:xfrm>
            <a:off x="548640" y="1508760"/>
            <a:ext cx="6949440" cy="822960"/>
          </a:xfrm>
          <a:prstGeom prst="rect">
            <a:avLst/>
          </a:prstGeom>
          <a:noFill/>
          <a:ln/>
        </p:spPr>
        <p:txBody>
          <a:bodyPr wrap="square" rtlCol="0" anchor="ctr"/>
          <a:lstStyle/>
          <a:p>
            <a:pPr marL="0" indent="0">
              <a:buNone/>
            </a:pPr>
            <a:r>
              <a:rPr lang="en-US" sz="1500" dirty="0">
                <a:solidFill>
                  <a:srgbClr val="5B6472"/>
                </a:solidFill>
                <a:latin typeface="Calibri" pitchFamily="34" charset="0"/>
                <a:ea typeface="Calibri" pitchFamily="34" charset="-122"/>
                <a:cs typeface="Calibri" pitchFamily="34" charset="-120"/>
              </a:rPr>
              <a:t>Build a data-driven system that helps financial institutions evaluate whether a loan applicant is likely to repay or represent a credit risk.</a:t>
            </a:r>
            <a:endParaRPr lang="en-US" sz="1500" dirty="0"/>
          </a:p>
        </p:txBody>
      </p:sp>
      <p:sp>
        <p:nvSpPr>
          <p:cNvPr id="5" name="Shape 3"/>
          <p:cNvSpPr/>
          <p:nvPr/>
        </p:nvSpPr>
        <p:spPr>
          <a:xfrm>
            <a:off x="548640" y="2560320"/>
            <a:ext cx="384048" cy="384048"/>
          </a:xfrm>
          <a:prstGeom prst="ellipse">
            <a:avLst/>
          </a:prstGeom>
          <a:solidFill>
            <a:srgbClr val="1E2761"/>
          </a:solidFill>
          <a:ln/>
        </p:spPr>
      </p:sp>
      <p:sp>
        <p:nvSpPr>
          <p:cNvPr id="6" name="Text 4"/>
          <p:cNvSpPr/>
          <p:nvPr/>
        </p:nvSpPr>
        <p:spPr>
          <a:xfrm>
            <a:off x="548640" y="2560320"/>
            <a:ext cx="384048" cy="384048"/>
          </a:xfrm>
          <a:prstGeom prst="rect">
            <a:avLst/>
          </a:prstGeom>
          <a:noFill/>
          <a:ln/>
        </p:spPr>
        <p:txBody>
          <a:bodyPr wrap="square" rtlCol="0" anchor="ctr"/>
          <a:lstStyle/>
          <a:p>
            <a:pPr marL="0" indent="0" algn="ctr">
              <a:buNone/>
            </a:pPr>
            <a:r>
              <a:rPr lang="en-US" sz="1600" b="1" dirty="0">
                <a:solidFill>
                  <a:srgbClr val="FFFFFF"/>
                </a:solidFill>
              </a:rPr>
              <a:t>•</a:t>
            </a:r>
            <a:endParaRPr lang="en-US" sz="1600" dirty="0"/>
          </a:p>
        </p:txBody>
      </p:sp>
      <p:sp>
        <p:nvSpPr>
          <p:cNvPr id="7" name="Text 5"/>
          <p:cNvSpPr/>
          <p:nvPr/>
        </p:nvSpPr>
        <p:spPr>
          <a:xfrm>
            <a:off x="1097280" y="2514600"/>
            <a:ext cx="237744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Analyze</a:t>
            </a:r>
            <a:endParaRPr lang="en-US" sz="1500" dirty="0"/>
          </a:p>
        </p:txBody>
      </p:sp>
      <p:sp>
        <p:nvSpPr>
          <p:cNvPr id="8" name="Text 6"/>
          <p:cNvSpPr/>
          <p:nvPr/>
        </p:nvSpPr>
        <p:spPr>
          <a:xfrm>
            <a:off x="3566160" y="2514600"/>
            <a:ext cx="4572000" cy="45720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Customer financial &amp; demographic data</a:t>
            </a:r>
            <a:endParaRPr lang="en-US" sz="1400" dirty="0"/>
          </a:p>
        </p:txBody>
      </p:sp>
      <p:sp>
        <p:nvSpPr>
          <p:cNvPr id="9" name="Shape 7"/>
          <p:cNvSpPr/>
          <p:nvPr/>
        </p:nvSpPr>
        <p:spPr>
          <a:xfrm>
            <a:off x="548640" y="3182112"/>
            <a:ext cx="384048" cy="384048"/>
          </a:xfrm>
          <a:prstGeom prst="ellipse">
            <a:avLst/>
          </a:prstGeom>
          <a:solidFill>
            <a:srgbClr val="1E2761"/>
          </a:solidFill>
          <a:ln/>
        </p:spPr>
      </p:sp>
      <p:sp>
        <p:nvSpPr>
          <p:cNvPr id="10" name="Text 8"/>
          <p:cNvSpPr/>
          <p:nvPr/>
        </p:nvSpPr>
        <p:spPr>
          <a:xfrm>
            <a:off x="548640" y="3182112"/>
            <a:ext cx="384048" cy="384048"/>
          </a:xfrm>
          <a:prstGeom prst="rect">
            <a:avLst/>
          </a:prstGeom>
          <a:noFill/>
          <a:ln/>
        </p:spPr>
        <p:txBody>
          <a:bodyPr wrap="square" rtlCol="0" anchor="ctr"/>
          <a:lstStyle/>
          <a:p>
            <a:pPr marL="0" indent="0" algn="ctr">
              <a:buNone/>
            </a:pPr>
            <a:r>
              <a:rPr lang="en-US" sz="1600" b="1" dirty="0">
                <a:solidFill>
                  <a:srgbClr val="FFFFFF"/>
                </a:solidFill>
              </a:rPr>
              <a:t>•</a:t>
            </a:r>
            <a:endParaRPr lang="en-US" sz="1600" dirty="0"/>
          </a:p>
        </p:txBody>
      </p:sp>
      <p:sp>
        <p:nvSpPr>
          <p:cNvPr id="11" name="Text 9"/>
          <p:cNvSpPr/>
          <p:nvPr/>
        </p:nvSpPr>
        <p:spPr>
          <a:xfrm>
            <a:off x="1097280" y="3136392"/>
            <a:ext cx="237744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Classify</a:t>
            </a:r>
            <a:endParaRPr lang="en-US" sz="1500" dirty="0"/>
          </a:p>
        </p:txBody>
      </p:sp>
      <p:sp>
        <p:nvSpPr>
          <p:cNvPr id="12" name="Text 10"/>
          <p:cNvSpPr/>
          <p:nvPr/>
        </p:nvSpPr>
        <p:spPr>
          <a:xfrm>
            <a:off x="3566160" y="3136392"/>
            <a:ext cx="4572000" cy="45720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Low-risk vs. high-risk applicants</a:t>
            </a:r>
            <a:endParaRPr lang="en-US" sz="1400" dirty="0"/>
          </a:p>
        </p:txBody>
      </p:sp>
      <p:sp>
        <p:nvSpPr>
          <p:cNvPr id="13" name="Shape 11"/>
          <p:cNvSpPr/>
          <p:nvPr/>
        </p:nvSpPr>
        <p:spPr>
          <a:xfrm>
            <a:off x="548640" y="3803904"/>
            <a:ext cx="384048" cy="384048"/>
          </a:xfrm>
          <a:prstGeom prst="ellipse">
            <a:avLst/>
          </a:prstGeom>
          <a:solidFill>
            <a:srgbClr val="1E2761"/>
          </a:solidFill>
          <a:ln/>
        </p:spPr>
      </p:sp>
      <p:sp>
        <p:nvSpPr>
          <p:cNvPr id="14" name="Text 12"/>
          <p:cNvSpPr/>
          <p:nvPr/>
        </p:nvSpPr>
        <p:spPr>
          <a:xfrm>
            <a:off x="548640" y="3803904"/>
            <a:ext cx="384048" cy="384048"/>
          </a:xfrm>
          <a:prstGeom prst="rect">
            <a:avLst/>
          </a:prstGeom>
          <a:noFill/>
          <a:ln/>
        </p:spPr>
        <p:txBody>
          <a:bodyPr wrap="square" rtlCol="0" anchor="ctr"/>
          <a:lstStyle/>
          <a:p>
            <a:pPr marL="0" indent="0" algn="ctr">
              <a:buNone/>
            </a:pPr>
            <a:r>
              <a:rPr lang="en-US" sz="1600" b="1" dirty="0">
                <a:solidFill>
                  <a:srgbClr val="FFFFFF"/>
                </a:solidFill>
              </a:rPr>
              <a:t>•</a:t>
            </a:r>
            <a:endParaRPr lang="en-US" sz="1600" dirty="0"/>
          </a:p>
        </p:txBody>
      </p:sp>
      <p:sp>
        <p:nvSpPr>
          <p:cNvPr id="15" name="Text 13"/>
          <p:cNvSpPr/>
          <p:nvPr/>
        </p:nvSpPr>
        <p:spPr>
          <a:xfrm>
            <a:off x="1097280" y="3758184"/>
            <a:ext cx="237744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Predict</a:t>
            </a:r>
            <a:endParaRPr lang="en-US" sz="1500" dirty="0"/>
          </a:p>
        </p:txBody>
      </p:sp>
      <p:sp>
        <p:nvSpPr>
          <p:cNvPr id="16" name="Text 14"/>
          <p:cNvSpPr/>
          <p:nvPr/>
        </p:nvSpPr>
        <p:spPr>
          <a:xfrm>
            <a:off x="3566160" y="3758184"/>
            <a:ext cx="4572000" cy="45720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Loan approval probability</a:t>
            </a:r>
            <a:endParaRPr lang="en-US" sz="1400" dirty="0"/>
          </a:p>
        </p:txBody>
      </p:sp>
      <p:sp>
        <p:nvSpPr>
          <p:cNvPr id="17" name="Shape 15"/>
          <p:cNvSpPr/>
          <p:nvPr/>
        </p:nvSpPr>
        <p:spPr>
          <a:xfrm>
            <a:off x="548640" y="4425696"/>
            <a:ext cx="384048" cy="384048"/>
          </a:xfrm>
          <a:prstGeom prst="ellipse">
            <a:avLst/>
          </a:prstGeom>
          <a:solidFill>
            <a:srgbClr val="1E2761"/>
          </a:solidFill>
          <a:ln/>
        </p:spPr>
      </p:sp>
      <p:sp>
        <p:nvSpPr>
          <p:cNvPr id="18" name="Text 16"/>
          <p:cNvSpPr/>
          <p:nvPr/>
        </p:nvSpPr>
        <p:spPr>
          <a:xfrm>
            <a:off x="548640" y="4425696"/>
            <a:ext cx="384048" cy="384048"/>
          </a:xfrm>
          <a:prstGeom prst="rect">
            <a:avLst/>
          </a:prstGeom>
          <a:noFill/>
          <a:ln/>
        </p:spPr>
        <p:txBody>
          <a:bodyPr wrap="square" rtlCol="0" anchor="ctr"/>
          <a:lstStyle/>
          <a:p>
            <a:pPr marL="0" indent="0" algn="ctr">
              <a:buNone/>
            </a:pPr>
            <a:r>
              <a:rPr lang="en-US" sz="1600" b="1" dirty="0">
                <a:solidFill>
                  <a:srgbClr val="FFFFFF"/>
                </a:solidFill>
              </a:rPr>
              <a:t>•</a:t>
            </a:r>
            <a:endParaRPr lang="en-US" sz="1600" dirty="0"/>
          </a:p>
        </p:txBody>
      </p:sp>
      <p:sp>
        <p:nvSpPr>
          <p:cNvPr id="19" name="Text 17"/>
          <p:cNvSpPr/>
          <p:nvPr/>
        </p:nvSpPr>
        <p:spPr>
          <a:xfrm>
            <a:off x="1097280" y="4379976"/>
            <a:ext cx="237744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Visualize</a:t>
            </a:r>
            <a:endParaRPr lang="en-US" sz="1500" dirty="0"/>
          </a:p>
        </p:txBody>
      </p:sp>
      <p:sp>
        <p:nvSpPr>
          <p:cNvPr id="20" name="Text 18"/>
          <p:cNvSpPr/>
          <p:nvPr/>
        </p:nvSpPr>
        <p:spPr>
          <a:xfrm>
            <a:off x="3566160" y="4379976"/>
            <a:ext cx="4572000" cy="45720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Risk insights via an interactive dashboard</a:t>
            </a:r>
            <a:endParaRPr lang="en-US" sz="1400" dirty="0"/>
          </a:p>
        </p:txBody>
      </p:sp>
      <p:sp>
        <p:nvSpPr>
          <p:cNvPr id="21" name="Shape 19"/>
          <p:cNvSpPr/>
          <p:nvPr/>
        </p:nvSpPr>
        <p:spPr>
          <a:xfrm>
            <a:off x="548640" y="5047488"/>
            <a:ext cx="384048" cy="384048"/>
          </a:xfrm>
          <a:prstGeom prst="ellipse">
            <a:avLst/>
          </a:prstGeom>
          <a:solidFill>
            <a:srgbClr val="1E2761"/>
          </a:solidFill>
          <a:ln/>
        </p:spPr>
      </p:sp>
      <p:sp>
        <p:nvSpPr>
          <p:cNvPr id="22" name="Text 20"/>
          <p:cNvSpPr/>
          <p:nvPr/>
        </p:nvSpPr>
        <p:spPr>
          <a:xfrm>
            <a:off x="548640" y="5047488"/>
            <a:ext cx="384048" cy="384048"/>
          </a:xfrm>
          <a:prstGeom prst="rect">
            <a:avLst/>
          </a:prstGeom>
          <a:noFill/>
          <a:ln/>
        </p:spPr>
        <p:txBody>
          <a:bodyPr wrap="square" rtlCol="0" anchor="ctr"/>
          <a:lstStyle/>
          <a:p>
            <a:pPr marL="0" indent="0" algn="ctr">
              <a:buNone/>
            </a:pPr>
            <a:r>
              <a:rPr lang="en-US" sz="1600" b="1" dirty="0">
                <a:solidFill>
                  <a:srgbClr val="FFFFFF"/>
                </a:solidFill>
              </a:rPr>
              <a:t>•</a:t>
            </a:r>
            <a:endParaRPr lang="en-US" sz="1600" dirty="0"/>
          </a:p>
        </p:txBody>
      </p:sp>
      <p:sp>
        <p:nvSpPr>
          <p:cNvPr id="23" name="Text 21"/>
          <p:cNvSpPr/>
          <p:nvPr/>
        </p:nvSpPr>
        <p:spPr>
          <a:xfrm>
            <a:off x="1097280" y="5001768"/>
            <a:ext cx="237744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Recommend</a:t>
            </a:r>
            <a:endParaRPr lang="en-US" sz="1500" dirty="0"/>
          </a:p>
        </p:txBody>
      </p:sp>
      <p:sp>
        <p:nvSpPr>
          <p:cNvPr id="24" name="Text 22"/>
          <p:cNvSpPr/>
          <p:nvPr/>
        </p:nvSpPr>
        <p:spPr>
          <a:xfrm>
            <a:off x="3566160" y="5001768"/>
            <a:ext cx="4572000" cy="45720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Approve / Review / Reject, automatically</a:t>
            </a:r>
            <a:endParaRPr lang="en-US" sz="1400" dirty="0"/>
          </a:p>
        </p:txBody>
      </p:sp>
      <p:sp>
        <p:nvSpPr>
          <p:cNvPr id="25" name="Shape 23"/>
          <p:cNvSpPr/>
          <p:nvPr/>
        </p:nvSpPr>
        <p:spPr>
          <a:xfrm>
            <a:off x="8321040" y="1508760"/>
            <a:ext cx="3291840" cy="4572000"/>
          </a:xfrm>
          <a:prstGeom prst="roundRect">
            <a:avLst>
              <a:gd name="adj" fmla="val 2222"/>
            </a:avLst>
          </a:prstGeom>
          <a:solidFill>
            <a:srgbClr val="1E2761"/>
          </a:solidFill>
          <a:ln/>
        </p:spPr>
      </p:sp>
      <p:sp>
        <p:nvSpPr>
          <p:cNvPr id="26" name="Text 24"/>
          <p:cNvSpPr/>
          <p:nvPr/>
        </p:nvSpPr>
        <p:spPr>
          <a:xfrm>
            <a:off x="8321040" y="1828800"/>
            <a:ext cx="3291840" cy="822960"/>
          </a:xfrm>
          <a:prstGeom prst="rect">
            <a:avLst/>
          </a:prstGeom>
          <a:noFill/>
          <a:ln/>
        </p:spPr>
        <p:txBody>
          <a:bodyPr wrap="square" rtlCol="0" anchor="ctr"/>
          <a:lstStyle/>
          <a:p>
            <a:pPr marL="0" indent="0" algn="ctr">
              <a:buNone/>
            </a:pPr>
            <a:r>
              <a:rPr lang="en-US" sz="4400" b="1" dirty="0">
                <a:solidFill>
                  <a:srgbClr val="B08D57"/>
                </a:solidFill>
                <a:latin typeface="Cambria" pitchFamily="34" charset="0"/>
                <a:ea typeface="Cambria" pitchFamily="34" charset="-122"/>
                <a:cs typeface="Cambria" pitchFamily="34" charset="-120"/>
              </a:rPr>
              <a:t>614</a:t>
            </a:r>
            <a:endParaRPr lang="en-US" sz="4400" dirty="0"/>
          </a:p>
        </p:txBody>
      </p:sp>
      <p:sp>
        <p:nvSpPr>
          <p:cNvPr id="27" name="Text 25"/>
          <p:cNvSpPr/>
          <p:nvPr/>
        </p:nvSpPr>
        <p:spPr>
          <a:xfrm>
            <a:off x="8503920" y="2514600"/>
            <a:ext cx="2926080" cy="4572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applicant records analyzed</a:t>
            </a:r>
            <a:endParaRPr lang="en-US" sz="1200" dirty="0"/>
          </a:p>
        </p:txBody>
      </p:sp>
      <p:sp>
        <p:nvSpPr>
          <p:cNvPr id="28" name="Text 26"/>
          <p:cNvSpPr/>
          <p:nvPr/>
        </p:nvSpPr>
        <p:spPr>
          <a:xfrm>
            <a:off x="8321040" y="3291840"/>
            <a:ext cx="3291840" cy="822960"/>
          </a:xfrm>
          <a:prstGeom prst="rect">
            <a:avLst/>
          </a:prstGeom>
          <a:noFill/>
          <a:ln/>
        </p:spPr>
        <p:txBody>
          <a:bodyPr wrap="square" rtlCol="0" anchor="ctr"/>
          <a:lstStyle/>
          <a:p>
            <a:pPr marL="0" indent="0" algn="ctr">
              <a:buNone/>
            </a:pPr>
            <a:r>
              <a:rPr lang="en-US" sz="4400" b="1" dirty="0">
                <a:solidFill>
                  <a:srgbClr val="B08D57"/>
                </a:solidFill>
                <a:latin typeface="Cambria" pitchFamily="34" charset="0"/>
                <a:ea typeface="Cambria" pitchFamily="34" charset="-122"/>
                <a:cs typeface="Cambria" pitchFamily="34" charset="-120"/>
              </a:rPr>
              <a:t>3</a:t>
            </a:r>
            <a:endParaRPr lang="en-US" sz="4400" dirty="0"/>
          </a:p>
        </p:txBody>
      </p:sp>
      <p:sp>
        <p:nvSpPr>
          <p:cNvPr id="29" name="Text 27"/>
          <p:cNvSpPr/>
          <p:nvPr/>
        </p:nvSpPr>
        <p:spPr>
          <a:xfrm>
            <a:off x="8503920" y="3977640"/>
            <a:ext cx="2926080" cy="4572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ML models trained &amp; compared</a:t>
            </a:r>
            <a:endParaRPr lang="en-US" sz="1200" dirty="0"/>
          </a:p>
        </p:txBody>
      </p:sp>
      <p:sp>
        <p:nvSpPr>
          <p:cNvPr id="30" name="Text 28"/>
          <p:cNvSpPr/>
          <p:nvPr/>
        </p:nvSpPr>
        <p:spPr>
          <a:xfrm>
            <a:off x="8321040" y="4754880"/>
            <a:ext cx="3291840" cy="822960"/>
          </a:xfrm>
          <a:prstGeom prst="rect">
            <a:avLst/>
          </a:prstGeom>
          <a:noFill/>
          <a:ln/>
        </p:spPr>
        <p:txBody>
          <a:bodyPr wrap="square" rtlCol="0" anchor="ctr"/>
          <a:lstStyle/>
          <a:p>
            <a:pPr marL="0" indent="0" algn="ctr">
              <a:buNone/>
            </a:pPr>
            <a:r>
              <a:rPr lang="en-US" sz="4400" b="1" dirty="0">
                <a:solidFill>
                  <a:srgbClr val="B08D57"/>
                </a:solidFill>
                <a:latin typeface="Cambria" pitchFamily="34" charset="0"/>
                <a:ea typeface="Cambria" pitchFamily="34" charset="-122"/>
                <a:cs typeface="Cambria" pitchFamily="34" charset="-120"/>
              </a:rPr>
              <a:t>5</a:t>
            </a:r>
            <a:endParaRPr lang="en-US" sz="4400" dirty="0"/>
          </a:p>
        </p:txBody>
      </p:sp>
      <p:sp>
        <p:nvSpPr>
          <p:cNvPr id="31" name="Text 29"/>
          <p:cNvSpPr/>
          <p:nvPr/>
        </p:nvSpPr>
        <p:spPr>
          <a:xfrm>
            <a:off x="8503920" y="5440680"/>
            <a:ext cx="2926080" cy="4572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project modules delivered</a:t>
            </a:r>
            <a:endParaRPr lang="en-US" sz="1200" dirty="0"/>
          </a:p>
        </p:txBody>
      </p:sp>
      <p:sp>
        <p:nvSpPr>
          <p:cNvPr id="32" name="Text 30"/>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DATASET</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Loan Prediction Dataset</a:t>
            </a:r>
            <a:endParaRPr lang="en-US" sz="3000" dirty="0"/>
          </a:p>
        </p:txBody>
      </p:sp>
      <p:sp>
        <p:nvSpPr>
          <p:cNvPr id="4" name="Text 2"/>
          <p:cNvSpPr/>
          <p:nvPr/>
        </p:nvSpPr>
        <p:spPr>
          <a:xfrm>
            <a:off x="548640" y="1508760"/>
            <a:ext cx="7315200" cy="457200"/>
          </a:xfrm>
          <a:prstGeom prst="rect">
            <a:avLst/>
          </a:prstGeom>
          <a:noFill/>
          <a:ln/>
        </p:spPr>
        <p:txBody>
          <a:bodyPr wrap="square" rtlCol="0" anchor="ctr"/>
          <a:lstStyle/>
          <a:p>
            <a:pPr marL="0" indent="0">
              <a:buNone/>
            </a:pPr>
            <a:r>
              <a:rPr lang="en-US" sz="1400" i="1" dirty="0">
                <a:solidFill>
                  <a:srgbClr val="5B6472"/>
                </a:solidFill>
                <a:latin typeface="Calibri" pitchFamily="34" charset="0"/>
                <a:ea typeface="Calibri" pitchFamily="34" charset="-122"/>
                <a:cs typeface="Calibri" pitchFamily="34" charset="-120"/>
              </a:rPr>
              <a:t>A widely-used, real-world-style dataset for credit risk and loan approval classification.</a:t>
            </a:r>
            <a:endParaRPr lang="en-US" sz="1400" dirty="0"/>
          </a:p>
        </p:txBody>
      </p:sp>
      <p:sp>
        <p:nvSpPr>
          <p:cNvPr id="5" name="Shape 3"/>
          <p:cNvSpPr/>
          <p:nvPr/>
        </p:nvSpPr>
        <p:spPr>
          <a:xfrm>
            <a:off x="548640" y="2148840"/>
            <a:ext cx="3429000" cy="2834640"/>
          </a:xfrm>
          <a:prstGeom prst="roundRect">
            <a:avLst>
              <a:gd name="adj" fmla="val 1935"/>
            </a:avLst>
          </a:prstGeom>
          <a:solidFill>
            <a:srgbClr val="F4F6FB"/>
          </a:solidFill>
          <a:ln/>
        </p:spPr>
      </p:sp>
      <p:sp>
        <p:nvSpPr>
          <p:cNvPr id="6" name="Text 4"/>
          <p:cNvSpPr/>
          <p:nvPr/>
        </p:nvSpPr>
        <p:spPr>
          <a:xfrm>
            <a:off x="731520" y="2331720"/>
            <a:ext cx="3063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Demographics</a:t>
            </a:r>
            <a:endParaRPr lang="en-US" sz="1400" dirty="0"/>
          </a:p>
        </p:txBody>
      </p:sp>
      <p:sp>
        <p:nvSpPr>
          <p:cNvPr id="7" name="Text 5"/>
          <p:cNvSpPr/>
          <p:nvPr/>
        </p:nvSpPr>
        <p:spPr>
          <a:xfrm>
            <a:off x="731520" y="2788920"/>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Gender</a:t>
            </a:r>
            <a:endParaRPr lang="en-US" sz="1250" dirty="0"/>
          </a:p>
        </p:txBody>
      </p:sp>
      <p:sp>
        <p:nvSpPr>
          <p:cNvPr id="8" name="Text 6"/>
          <p:cNvSpPr/>
          <p:nvPr/>
        </p:nvSpPr>
        <p:spPr>
          <a:xfrm>
            <a:off x="731520" y="3172968"/>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Married</a:t>
            </a:r>
            <a:endParaRPr lang="en-US" sz="1250" dirty="0"/>
          </a:p>
        </p:txBody>
      </p:sp>
      <p:sp>
        <p:nvSpPr>
          <p:cNvPr id="9" name="Text 7"/>
          <p:cNvSpPr/>
          <p:nvPr/>
        </p:nvSpPr>
        <p:spPr>
          <a:xfrm>
            <a:off x="731520" y="3557016"/>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Dependents</a:t>
            </a:r>
            <a:endParaRPr lang="en-US" sz="1250" dirty="0"/>
          </a:p>
        </p:txBody>
      </p:sp>
      <p:sp>
        <p:nvSpPr>
          <p:cNvPr id="10" name="Text 8"/>
          <p:cNvSpPr/>
          <p:nvPr/>
        </p:nvSpPr>
        <p:spPr>
          <a:xfrm>
            <a:off x="731520" y="3941064"/>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Education</a:t>
            </a:r>
            <a:endParaRPr lang="en-US" sz="1250" dirty="0"/>
          </a:p>
        </p:txBody>
      </p:sp>
      <p:sp>
        <p:nvSpPr>
          <p:cNvPr id="11" name="Text 9"/>
          <p:cNvSpPr/>
          <p:nvPr/>
        </p:nvSpPr>
        <p:spPr>
          <a:xfrm>
            <a:off x="731520" y="4325112"/>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Self Employed</a:t>
            </a:r>
            <a:endParaRPr lang="en-US" sz="1250" dirty="0"/>
          </a:p>
        </p:txBody>
      </p:sp>
      <p:sp>
        <p:nvSpPr>
          <p:cNvPr id="12" name="Shape 10"/>
          <p:cNvSpPr/>
          <p:nvPr/>
        </p:nvSpPr>
        <p:spPr>
          <a:xfrm>
            <a:off x="4206240" y="2148840"/>
            <a:ext cx="3429000" cy="2834640"/>
          </a:xfrm>
          <a:prstGeom prst="roundRect">
            <a:avLst>
              <a:gd name="adj" fmla="val 1935"/>
            </a:avLst>
          </a:prstGeom>
          <a:solidFill>
            <a:srgbClr val="F4F6FB"/>
          </a:solidFill>
          <a:ln/>
        </p:spPr>
      </p:sp>
      <p:sp>
        <p:nvSpPr>
          <p:cNvPr id="13" name="Text 11"/>
          <p:cNvSpPr/>
          <p:nvPr/>
        </p:nvSpPr>
        <p:spPr>
          <a:xfrm>
            <a:off x="4389120" y="2331720"/>
            <a:ext cx="3063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Financials</a:t>
            </a:r>
            <a:endParaRPr lang="en-US" sz="1400" dirty="0"/>
          </a:p>
        </p:txBody>
      </p:sp>
      <p:sp>
        <p:nvSpPr>
          <p:cNvPr id="14" name="Text 12"/>
          <p:cNvSpPr/>
          <p:nvPr/>
        </p:nvSpPr>
        <p:spPr>
          <a:xfrm>
            <a:off x="4389120" y="2788920"/>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ApplicantIncome</a:t>
            </a:r>
            <a:endParaRPr lang="en-US" sz="1250" dirty="0"/>
          </a:p>
        </p:txBody>
      </p:sp>
      <p:sp>
        <p:nvSpPr>
          <p:cNvPr id="15" name="Text 13"/>
          <p:cNvSpPr/>
          <p:nvPr/>
        </p:nvSpPr>
        <p:spPr>
          <a:xfrm>
            <a:off x="4389120" y="3172968"/>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CoapplicantIncome</a:t>
            </a:r>
            <a:endParaRPr lang="en-US" sz="1250" dirty="0"/>
          </a:p>
        </p:txBody>
      </p:sp>
      <p:sp>
        <p:nvSpPr>
          <p:cNvPr id="16" name="Text 14"/>
          <p:cNvSpPr/>
          <p:nvPr/>
        </p:nvSpPr>
        <p:spPr>
          <a:xfrm>
            <a:off x="4389120" y="3557016"/>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LoanAmount</a:t>
            </a:r>
            <a:endParaRPr lang="en-US" sz="1250" dirty="0"/>
          </a:p>
        </p:txBody>
      </p:sp>
      <p:sp>
        <p:nvSpPr>
          <p:cNvPr id="17" name="Text 15"/>
          <p:cNvSpPr/>
          <p:nvPr/>
        </p:nvSpPr>
        <p:spPr>
          <a:xfrm>
            <a:off x="4389120" y="3941064"/>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Loan Amount Term</a:t>
            </a:r>
            <a:endParaRPr lang="en-US" sz="1250" dirty="0"/>
          </a:p>
        </p:txBody>
      </p:sp>
      <p:sp>
        <p:nvSpPr>
          <p:cNvPr id="18" name="Shape 16"/>
          <p:cNvSpPr/>
          <p:nvPr/>
        </p:nvSpPr>
        <p:spPr>
          <a:xfrm>
            <a:off x="7863840" y="2148840"/>
            <a:ext cx="3429000" cy="2834640"/>
          </a:xfrm>
          <a:prstGeom prst="roundRect">
            <a:avLst>
              <a:gd name="adj" fmla="val 1935"/>
            </a:avLst>
          </a:prstGeom>
          <a:solidFill>
            <a:srgbClr val="F4F6FB"/>
          </a:solidFill>
          <a:ln/>
        </p:spPr>
      </p:sp>
      <p:sp>
        <p:nvSpPr>
          <p:cNvPr id="19" name="Text 17"/>
          <p:cNvSpPr/>
          <p:nvPr/>
        </p:nvSpPr>
        <p:spPr>
          <a:xfrm>
            <a:off x="8046720" y="2331720"/>
            <a:ext cx="3063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Risk &amp; Location</a:t>
            </a:r>
            <a:endParaRPr lang="en-US" sz="1400" dirty="0"/>
          </a:p>
        </p:txBody>
      </p:sp>
      <p:sp>
        <p:nvSpPr>
          <p:cNvPr id="20" name="Text 18"/>
          <p:cNvSpPr/>
          <p:nvPr/>
        </p:nvSpPr>
        <p:spPr>
          <a:xfrm>
            <a:off x="8046720" y="2788920"/>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Credit History</a:t>
            </a:r>
            <a:endParaRPr lang="en-US" sz="1250" dirty="0"/>
          </a:p>
        </p:txBody>
      </p:sp>
      <p:sp>
        <p:nvSpPr>
          <p:cNvPr id="21" name="Text 19"/>
          <p:cNvSpPr/>
          <p:nvPr/>
        </p:nvSpPr>
        <p:spPr>
          <a:xfrm>
            <a:off x="8046720" y="3172968"/>
            <a:ext cx="3108960" cy="32004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 Property Area</a:t>
            </a:r>
            <a:endParaRPr lang="en-US" sz="1250" dirty="0"/>
          </a:p>
        </p:txBody>
      </p:sp>
      <p:sp>
        <p:nvSpPr>
          <p:cNvPr id="22" name="Shape 20"/>
          <p:cNvSpPr/>
          <p:nvPr/>
        </p:nvSpPr>
        <p:spPr>
          <a:xfrm>
            <a:off x="548640" y="5257800"/>
            <a:ext cx="11064240" cy="868680"/>
          </a:xfrm>
          <a:prstGeom prst="roundRect">
            <a:avLst>
              <a:gd name="adj" fmla="val 6316"/>
            </a:avLst>
          </a:prstGeom>
          <a:solidFill>
            <a:srgbClr val="1E2761"/>
          </a:solidFill>
          <a:ln/>
        </p:spPr>
      </p:sp>
      <p:sp>
        <p:nvSpPr>
          <p:cNvPr id="23" name="Text 21"/>
          <p:cNvSpPr/>
          <p:nvPr/>
        </p:nvSpPr>
        <p:spPr>
          <a:xfrm>
            <a:off x="822960" y="5257800"/>
            <a:ext cx="10515600" cy="868680"/>
          </a:xfrm>
          <a:prstGeom prst="rect">
            <a:avLst/>
          </a:prstGeom>
          <a:noFill/>
          <a:ln/>
        </p:spPr>
        <p:txBody>
          <a:bodyPr wrap="square" rtlCol="0" anchor="ctr"/>
          <a:lstStyle/>
          <a:p>
            <a:pPr marL="0" indent="0">
              <a:buNone/>
            </a:pPr>
            <a:r>
              <a:rPr lang="en-US" sz="1250" b="1" dirty="0">
                <a:solidFill>
                  <a:srgbClr val="B08D57"/>
                </a:solidFill>
                <a:latin typeface="Calibri" pitchFamily="34" charset="0"/>
                <a:ea typeface="Calibri" pitchFamily="34" charset="-122"/>
                <a:cs typeface="Calibri" pitchFamily="34" charset="-120"/>
              </a:rPr>
              <a:t>Target variable:  </a:t>
            </a:r>
            <a:r>
              <a:rPr lang="en-US" sz="1250" dirty="0">
                <a:solidFill>
                  <a:srgbClr val="FFFFFF"/>
                </a:solidFill>
                <a:latin typeface="Calibri" pitchFamily="34" charset="0"/>
                <a:ea typeface="Calibri" pitchFamily="34" charset="-122"/>
                <a:cs typeface="Calibri" pitchFamily="34" charset="-120"/>
              </a:rPr>
              <a:t>Loan Status (Y = Approved, N = Rejected)   •   </a:t>
            </a:r>
            <a:r>
              <a:rPr lang="en-US" sz="1250" b="1" dirty="0">
                <a:solidFill>
                  <a:srgbClr val="B08D57"/>
                </a:solidFill>
                <a:latin typeface="Calibri" pitchFamily="34" charset="0"/>
                <a:ea typeface="Calibri" pitchFamily="34" charset="-122"/>
                <a:cs typeface="Calibri" pitchFamily="34" charset="-120"/>
              </a:rPr>
              <a:t>Loan ID dropped </a:t>
            </a:r>
            <a:r>
              <a:rPr lang="en-US" sz="1250" dirty="0">
                <a:solidFill>
                  <a:srgbClr val="FFFFFF"/>
                </a:solidFill>
                <a:latin typeface="Calibri" pitchFamily="34" charset="0"/>
                <a:ea typeface="Calibri" pitchFamily="34" charset="-122"/>
                <a:cs typeface="Calibri" pitchFamily="34" charset="-120"/>
              </a:rPr>
              <a:t>(unique identifier, no predictive value)   •   No duplicate rows or columns found</a:t>
            </a:r>
            <a:endParaRPr lang="en-US" sz="1250" dirty="0"/>
          </a:p>
        </p:txBody>
      </p:sp>
      <p:sp>
        <p:nvSpPr>
          <p:cNvPr id="24" name="Text 22"/>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1</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Preprocessing Decisions</a:t>
            </a:r>
            <a:endParaRPr lang="en-US" sz="3000" dirty="0"/>
          </a:p>
        </p:txBody>
      </p:sp>
      <p:sp>
        <p:nvSpPr>
          <p:cNvPr id="4" name="Shape 2"/>
          <p:cNvSpPr/>
          <p:nvPr/>
        </p:nvSpPr>
        <p:spPr>
          <a:xfrm>
            <a:off x="548640" y="1600200"/>
            <a:ext cx="5349240" cy="2148840"/>
          </a:xfrm>
          <a:prstGeom prst="roundRect">
            <a:avLst>
              <a:gd name="adj" fmla="val 2979"/>
            </a:avLst>
          </a:prstGeom>
          <a:solidFill>
            <a:srgbClr val="F4F6FB"/>
          </a:solidFill>
          <a:ln/>
        </p:spPr>
      </p:sp>
      <p:sp>
        <p:nvSpPr>
          <p:cNvPr id="5" name="Shape 3"/>
          <p:cNvSpPr/>
          <p:nvPr/>
        </p:nvSpPr>
        <p:spPr>
          <a:xfrm>
            <a:off x="777240" y="1828800"/>
            <a:ext cx="457200" cy="457200"/>
          </a:xfrm>
          <a:prstGeom prst="roundRect">
            <a:avLst>
              <a:gd name="adj" fmla="val 50000"/>
            </a:avLst>
          </a:prstGeom>
          <a:solidFill>
            <a:srgbClr val="1E2761"/>
          </a:solidFill>
          <a:ln/>
        </p:spPr>
      </p:sp>
      <p:sp>
        <p:nvSpPr>
          <p:cNvPr id="6" name="Text 4"/>
          <p:cNvSpPr/>
          <p:nvPr/>
        </p:nvSpPr>
        <p:spPr>
          <a:xfrm>
            <a:off x="777240" y="1828800"/>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371600" y="1801368"/>
            <a:ext cx="43434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Missing Values</a:t>
            </a:r>
            <a:endParaRPr lang="en-US" sz="1500" dirty="0"/>
          </a:p>
        </p:txBody>
      </p:sp>
      <p:sp>
        <p:nvSpPr>
          <p:cNvPr id="8" name="Text 6"/>
          <p:cNvSpPr/>
          <p:nvPr/>
        </p:nvSpPr>
        <p:spPr>
          <a:xfrm>
            <a:off x="868680" y="2377440"/>
            <a:ext cx="4709160" cy="123444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Categorical columns filled with mode; numeric columns (Loan Amount, Loan Amount Term) filled with median due to right-skew and outliers.</a:t>
            </a:r>
            <a:endParaRPr lang="en-US" sz="1200" dirty="0"/>
          </a:p>
        </p:txBody>
      </p:sp>
      <p:sp>
        <p:nvSpPr>
          <p:cNvPr id="9" name="Shape 7"/>
          <p:cNvSpPr/>
          <p:nvPr/>
        </p:nvSpPr>
        <p:spPr>
          <a:xfrm>
            <a:off x="6263640" y="1600200"/>
            <a:ext cx="5349240" cy="2148840"/>
          </a:xfrm>
          <a:prstGeom prst="roundRect">
            <a:avLst>
              <a:gd name="adj" fmla="val 2979"/>
            </a:avLst>
          </a:prstGeom>
          <a:solidFill>
            <a:srgbClr val="F4F6FB"/>
          </a:solidFill>
          <a:ln/>
        </p:spPr>
      </p:sp>
      <p:sp>
        <p:nvSpPr>
          <p:cNvPr id="10" name="Shape 8"/>
          <p:cNvSpPr/>
          <p:nvPr/>
        </p:nvSpPr>
        <p:spPr>
          <a:xfrm>
            <a:off x="6492240" y="1828800"/>
            <a:ext cx="457200" cy="457200"/>
          </a:xfrm>
          <a:prstGeom prst="roundRect">
            <a:avLst>
              <a:gd name="adj" fmla="val 50000"/>
            </a:avLst>
          </a:prstGeom>
          <a:solidFill>
            <a:srgbClr val="1E2761"/>
          </a:solidFill>
          <a:ln/>
        </p:spPr>
      </p:sp>
      <p:sp>
        <p:nvSpPr>
          <p:cNvPr id="11" name="Text 9"/>
          <p:cNvSpPr/>
          <p:nvPr/>
        </p:nvSpPr>
        <p:spPr>
          <a:xfrm>
            <a:off x="6492240" y="1828800"/>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2" name="Text 10"/>
          <p:cNvSpPr/>
          <p:nvPr/>
        </p:nvSpPr>
        <p:spPr>
          <a:xfrm>
            <a:off x="7086600" y="1801368"/>
            <a:ext cx="43434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“3+” Dependents</a:t>
            </a:r>
            <a:endParaRPr lang="en-US" sz="1500" dirty="0"/>
          </a:p>
        </p:txBody>
      </p:sp>
      <p:sp>
        <p:nvSpPr>
          <p:cNvPr id="13" name="Text 11"/>
          <p:cNvSpPr/>
          <p:nvPr/>
        </p:nvSpPr>
        <p:spPr>
          <a:xfrm>
            <a:off x="6583680" y="2377440"/>
            <a:ext cx="4709160" cy="123444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Encoded as the floor value 3, since the dataset does not record exact counts beyond this threshold. Kept numeric, as dependent count is genuinely ordinal.</a:t>
            </a:r>
            <a:endParaRPr lang="en-US" sz="1200" dirty="0"/>
          </a:p>
        </p:txBody>
      </p:sp>
      <p:sp>
        <p:nvSpPr>
          <p:cNvPr id="14" name="Shape 12"/>
          <p:cNvSpPr/>
          <p:nvPr/>
        </p:nvSpPr>
        <p:spPr>
          <a:xfrm>
            <a:off x="548640" y="4069080"/>
            <a:ext cx="5349240" cy="2148840"/>
          </a:xfrm>
          <a:prstGeom prst="roundRect">
            <a:avLst>
              <a:gd name="adj" fmla="val 2979"/>
            </a:avLst>
          </a:prstGeom>
          <a:solidFill>
            <a:srgbClr val="F4F6FB"/>
          </a:solidFill>
          <a:ln/>
        </p:spPr>
      </p:sp>
      <p:sp>
        <p:nvSpPr>
          <p:cNvPr id="15" name="Shape 13"/>
          <p:cNvSpPr/>
          <p:nvPr/>
        </p:nvSpPr>
        <p:spPr>
          <a:xfrm>
            <a:off x="777240" y="4297680"/>
            <a:ext cx="457200" cy="457200"/>
          </a:xfrm>
          <a:prstGeom prst="roundRect">
            <a:avLst>
              <a:gd name="adj" fmla="val 50000"/>
            </a:avLst>
          </a:prstGeom>
          <a:solidFill>
            <a:srgbClr val="1E2761"/>
          </a:solidFill>
          <a:ln/>
        </p:spPr>
      </p:sp>
      <p:sp>
        <p:nvSpPr>
          <p:cNvPr id="16" name="Text 14"/>
          <p:cNvSpPr/>
          <p:nvPr/>
        </p:nvSpPr>
        <p:spPr>
          <a:xfrm>
            <a:off x="777240" y="4297680"/>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Text 15"/>
          <p:cNvSpPr/>
          <p:nvPr/>
        </p:nvSpPr>
        <p:spPr>
          <a:xfrm>
            <a:off x="1371600" y="4270248"/>
            <a:ext cx="43434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Encoding</a:t>
            </a:r>
            <a:endParaRPr lang="en-US" sz="1500" dirty="0"/>
          </a:p>
        </p:txBody>
      </p:sp>
      <p:sp>
        <p:nvSpPr>
          <p:cNvPr id="18" name="Text 16"/>
          <p:cNvSpPr/>
          <p:nvPr/>
        </p:nvSpPr>
        <p:spPr>
          <a:xfrm>
            <a:off x="868680" y="4846320"/>
            <a:ext cx="4709160" cy="123444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Binary variables (Gender, Married, Education, Self-Employed) mapped to 0/1. Property Area one-hot encoded (3 unrelated categories, drop_first=True).</a:t>
            </a:r>
            <a:endParaRPr lang="en-US" sz="1200" dirty="0"/>
          </a:p>
        </p:txBody>
      </p:sp>
      <p:sp>
        <p:nvSpPr>
          <p:cNvPr id="19" name="Shape 17"/>
          <p:cNvSpPr/>
          <p:nvPr/>
        </p:nvSpPr>
        <p:spPr>
          <a:xfrm>
            <a:off x="6263640" y="4069080"/>
            <a:ext cx="5349240" cy="2148840"/>
          </a:xfrm>
          <a:prstGeom prst="roundRect">
            <a:avLst>
              <a:gd name="adj" fmla="val 2979"/>
            </a:avLst>
          </a:prstGeom>
          <a:solidFill>
            <a:srgbClr val="F4F6FB"/>
          </a:solidFill>
          <a:ln/>
        </p:spPr>
      </p:sp>
      <p:sp>
        <p:nvSpPr>
          <p:cNvPr id="20" name="Shape 18"/>
          <p:cNvSpPr/>
          <p:nvPr/>
        </p:nvSpPr>
        <p:spPr>
          <a:xfrm>
            <a:off x="6492240" y="4297680"/>
            <a:ext cx="457200" cy="457200"/>
          </a:xfrm>
          <a:prstGeom prst="roundRect">
            <a:avLst>
              <a:gd name="adj" fmla="val 50000"/>
            </a:avLst>
          </a:prstGeom>
          <a:solidFill>
            <a:srgbClr val="1E2761"/>
          </a:solidFill>
          <a:ln/>
        </p:spPr>
      </p:sp>
      <p:sp>
        <p:nvSpPr>
          <p:cNvPr id="21" name="Text 19"/>
          <p:cNvSpPr/>
          <p:nvPr/>
        </p:nvSpPr>
        <p:spPr>
          <a:xfrm>
            <a:off x="6492240" y="4297680"/>
            <a:ext cx="457200" cy="4572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2" name="Text 20"/>
          <p:cNvSpPr/>
          <p:nvPr/>
        </p:nvSpPr>
        <p:spPr>
          <a:xfrm>
            <a:off x="7086600" y="4270248"/>
            <a:ext cx="43434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Feature Scaling</a:t>
            </a:r>
            <a:endParaRPr lang="en-US" sz="1500" dirty="0"/>
          </a:p>
        </p:txBody>
      </p:sp>
      <p:sp>
        <p:nvSpPr>
          <p:cNvPr id="23" name="Text 21"/>
          <p:cNvSpPr/>
          <p:nvPr/>
        </p:nvSpPr>
        <p:spPr>
          <a:xfrm>
            <a:off x="6583680" y="4846320"/>
            <a:ext cx="4709160" cy="123444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StandardScaler fit only on training data, then applied to test data — preventing data leakage; primarily benefits Logistic Regression.</a:t>
            </a:r>
            <a:endParaRPr lang="en-US" sz="1200" dirty="0"/>
          </a:p>
        </p:txBody>
      </p:sp>
      <p:sp>
        <p:nvSpPr>
          <p:cNvPr id="24" name="Text 22"/>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2 · EXPLORATORY DATA ANALYSIS</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Credit History Drives Approval</a:t>
            </a:r>
            <a:endParaRPr lang="en-US" sz="3000" dirty="0"/>
          </a:p>
        </p:txBody>
      </p:sp>
      <p:graphicFrame>
        <p:nvGraphicFramePr>
          <p:cNvPr id="4" name="Chart 0"/>
          <p:cNvGraphicFramePr/>
          <p:nvPr/>
        </p:nvGraphicFramePr>
        <p:xfrm>
          <a:off x="548640" y="1554480"/>
          <a:ext cx="64922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60920" y="1554480"/>
            <a:ext cx="4251960" cy="1965960"/>
          </a:xfrm>
          <a:prstGeom prst="roundRect">
            <a:avLst>
              <a:gd name="adj" fmla="val 3256"/>
            </a:avLst>
          </a:prstGeom>
          <a:solidFill>
            <a:srgbClr val="1E2761"/>
          </a:solidFill>
          <a:ln/>
        </p:spPr>
      </p:sp>
      <p:sp>
        <p:nvSpPr>
          <p:cNvPr id="6" name="Text 3"/>
          <p:cNvSpPr/>
          <p:nvPr/>
        </p:nvSpPr>
        <p:spPr>
          <a:xfrm>
            <a:off x="7360920" y="1737360"/>
            <a:ext cx="4251960" cy="777240"/>
          </a:xfrm>
          <a:prstGeom prst="rect">
            <a:avLst/>
          </a:prstGeom>
          <a:noFill/>
          <a:ln/>
        </p:spPr>
        <p:txBody>
          <a:bodyPr wrap="square" rtlCol="0" anchor="ctr"/>
          <a:lstStyle/>
          <a:p>
            <a:pPr marL="0" indent="0" algn="ctr">
              <a:buNone/>
            </a:pPr>
            <a:r>
              <a:rPr lang="en-US" sz="3400" b="1" dirty="0">
                <a:solidFill>
                  <a:srgbClr val="B08D57"/>
                </a:solidFill>
                <a:latin typeface="Cambria" pitchFamily="34" charset="0"/>
                <a:ea typeface="Cambria" pitchFamily="34" charset="-122"/>
                <a:cs typeface="Cambria" pitchFamily="34" charset="-120"/>
              </a:rPr>
              <a:t>79.1%</a:t>
            </a:r>
            <a:endParaRPr lang="en-US" sz="3400" dirty="0"/>
          </a:p>
        </p:txBody>
      </p:sp>
      <p:sp>
        <p:nvSpPr>
          <p:cNvPr id="7" name="Text 4"/>
          <p:cNvSpPr/>
          <p:nvPr/>
        </p:nvSpPr>
        <p:spPr>
          <a:xfrm>
            <a:off x="7635240" y="2468880"/>
            <a:ext cx="3703320" cy="822960"/>
          </a:xfrm>
          <a:prstGeom prst="rect">
            <a:avLst/>
          </a:prstGeom>
          <a:noFill/>
          <a:ln/>
        </p:spPr>
        <p:txBody>
          <a:bodyPr wrap="square"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approval rate for applicants with GOOD credit history</a:t>
            </a:r>
            <a:endParaRPr lang="en-US" sz="1250" dirty="0"/>
          </a:p>
        </p:txBody>
      </p:sp>
      <p:sp>
        <p:nvSpPr>
          <p:cNvPr id="8" name="Shape 5"/>
          <p:cNvSpPr/>
          <p:nvPr/>
        </p:nvSpPr>
        <p:spPr>
          <a:xfrm>
            <a:off x="7360920" y="3703320"/>
            <a:ext cx="4251960" cy="1965960"/>
          </a:xfrm>
          <a:prstGeom prst="roundRect">
            <a:avLst>
              <a:gd name="adj" fmla="val 3256"/>
            </a:avLst>
          </a:prstGeom>
          <a:solidFill>
            <a:srgbClr val="F4F6FB"/>
          </a:solidFill>
          <a:ln/>
        </p:spPr>
      </p:sp>
      <p:sp>
        <p:nvSpPr>
          <p:cNvPr id="9" name="Text 6"/>
          <p:cNvSpPr/>
          <p:nvPr/>
        </p:nvSpPr>
        <p:spPr>
          <a:xfrm>
            <a:off x="7360920" y="3886200"/>
            <a:ext cx="4251960" cy="777240"/>
          </a:xfrm>
          <a:prstGeom prst="rect">
            <a:avLst/>
          </a:prstGeom>
          <a:noFill/>
          <a:ln/>
        </p:spPr>
        <p:txBody>
          <a:bodyPr wrap="square" rtlCol="0" anchor="ctr"/>
          <a:lstStyle/>
          <a:p>
            <a:pPr marL="0" indent="0" algn="ctr">
              <a:buNone/>
            </a:pPr>
            <a:r>
              <a:rPr lang="en-US" sz="3400" b="1" dirty="0">
                <a:solidFill>
                  <a:srgbClr val="B23A48"/>
                </a:solidFill>
                <a:latin typeface="Cambria" pitchFamily="34" charset="0"/>
                <a:ea typeface="Cambria" pitchFamily="34" charset="-122"/>
                <a:cs typeface="Cambria" pitchFamily="34" charset="-120"/>
              </a:rPr>
              <a:t>7.9%</a:t>
            </a:r>
            <a:endParaRPr lang="en-US" sz="3400" dirty="0"/>
          </a:p>
        </p:txBody>
      </p:sp>
      <p:sp>
        <p:nvSpPr>
          <p:cNvPr id="10" name="Text 7"/>
          <p:cNvSpPr/>
          <p:nvPr/>
        </p:nvSpPr>
        <p:spPr>
          <a:xfrm>
            <a:off x="7635240" y="4617720"/>
            <a:ext cx="3703320" cy="822960"/>
          </a:xfrm>
          <a:prstGeom prst="rect">
            <a:avLst/>
          </a:prstGeom>
          <a:noFill/>
          <a:ln/>
        </p:spPr>
        <p:txBody>
          <a:bodyPr wrap="square" rtlCol="0" anchor="ctr"/>
          <a:lstStyle/>
          <a:p>
            <a:pPr marL="0" indent="0" algn="ctr">
              <a:buNone/>
            </a:pPr>
            <a:r>
              <a:rPr lang="en-US" sz="1250" dirty="0">
                <a:solidFill>
                  <a:srgbClr val="5B6472"/>
                </a:solidFill>
                <a:latin typeface="Calibri" pitchFamily="34" charset="0"/>
                <a:ea typeface="Calibri" pitchFamily="34" charset="-122"/>
                <a:cs typeface="Calibri" pitchFamily="34" charset="-120"/>
              </a:rPr>
              <a:t>approval rate for applicants with BAD credit history</a:t>
            </a:r>
            <a:endParaRPr lang="en-US" sz="1250" dirty="0"/>
          </a:p>
        </p:txBody>
      </p:sp>
      <p:sp>
        <p:nvSpPr>
          <p:cNvPr id="11" name="Text 8"/>
          <p:cNvSpPr/>
          <p:nvPr/>
        </p:nvSpPr>
        <p:spPr>
          <a:xfrm>
            <a:off x="548640" y="5989320"/>
            <a:ext cx="11064240" cy="365760"/>
          </a:xfrm>
          <a:prstGeom prst="rect">
            <a:avLst/>
          </a:prstGeom>
          <a:noFill/>
          <a:ln/>
        </p:spPr>
        <p:txBody>
          <a:bodyPr wrap="square"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Correlation with Loan Status: 0.54 — by far the strongest of any feature in the dataset.</a:t>
            </a:r>
            <a:endParaRPr lang="en-US" sz="1250" dirty="0"/>
          </a:p>
        </p:txBody>
      </p:sp>
      <p:sp>
        <p:nvSpPr>
          <p:cNvPr id="12" name="Text 9"/>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2 · EXPLORATORY DATA ANALYSIS</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Income &amp; Loan Amount Barely Matter</a:t>
            </a:r>
            <a:endParaRPr lang="en-US" sz="3000" dirty="0"/>
          </a:p>
        </p:txBody>
      </p:sp>
      <p:sp>
        <p:nvSpPr>
          <p:cNvPr id="4" name="Text 2"/>
          <p:cNvSpPr/>
          <p:nvPr/>
        </p:nvSpPr>
        <p:spPr>
          <a:xfrm>
            <a:off x="548640" y="1463040"/>
            <a:ext cx="10972800" cy="457200"/>
          </a:xfrm>
          <a:prstGeom prst="rect">
            <a:avLst/>
          </a:prstGeom>
          <a:noFill/>
          <a:ln/>
        </p:spPr>
        <p:txBody>
          <a:bodyPr wrap="square" rtlCol="0" anchor="ctr"/>
          <a:lstStyle/>
          <a:p>
            <a:pPr marL="0" indent="0">
              <a:buNone/>
            </a:pPr>
            <a:r>
              <a:rPr lang="en-US" sz="1350" i="1" dirty="0">
                <a:solidFill>
                  <a:srgbClr val="5B6472"/>
                </a:solidFill>
                <a:latin typeface="Calibri" pitchFamily="34" charset="0"/>
                <a:ea typeface="Calibri" pitchFamily="34" charset="-122"/>
                <a:cs typeface="Calibri" pitchFamily="34" charset="-120"/>
              </a:rPr>
              <a:t>A counterintuitive finding: how much an applicant earns, or how much they request, shows almost no relationship with approval outcome.</a:t>
            </a:r>
            <a:endParaRPr lang="en-US" sz="1350" dirty="0"/>
          </a:p>
        </p:txBody>
      </p:sp>
      <p:graphicFrame>
        <p:nvGraphicFramePr>
          <p:cNvPr id="5" name="Chart 0"/>
          <p:cNvGraphicFramePr/>
          <p:nvPr/>
        </p:nvGraphicFramePr>
        <p:xfrm>
          <a:off x="548640" y="2103120"/>
          <a:ext cx="5349240" cy="3931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63640" y="2103120"/>
          <a:ext cx="534924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548640" y="6172200"/>
            <a:ext cx="11064240" cy="365760"/>
          </a:xfrm>
          <a:prstGeom prst="rect">
            <a:avLst/>
          </a:prstGeom>
          <a:noFill/>
          <a:ln/>
        </p:spPr>
        <p:txBody>
          <a:bodyPr wrap="square" rtlCol="0" anchor="ctr"/>
          <a:lstStyle/>
          <a:p>
            <a:pPr marL="0" indent="0">
              <a:buNone/>
            </a:pPr>
            <a:r>
              <a:rPr lang="en-US" sz="1200" dirty="0">
                <a:solidFill>
                  <a:srgbClr val="5B6472"/>
                </a:solidFill>
                <a:latin typeface="Calibri" pitchFamily="34" charset="0"/>
                <a:ea typeface="Calibri" pitchFamily="34" charset="-122"/>
                <a:cs typeface="Calibri" pitchFamily="34" charset="-120"/>
              </a:rPr>
              <a:t>Difference of just ₹62 in average income, and ₹6 in average loan amount, between approved and rejected applicants.</a:t>
            </a:r>
            <a:endParaRPr lang="en-US" sz="1200" dirty="0"/>
          </a:p>
        </p:txBody>
      </p:sp>
      <p:sp>
        <p:nvSpPr>
          <p:cNvPr id="8" name="Text 4"/>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2 · EXPLORATORY DATA ANALYSIS</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Secondary Risk Factors</a:t>
            </a:r>
            <a:endParaRPr lang="en-US" sz="3000" dirty="0"/>
          </a:p>
        </p:txBody>
      </p:sp>
      <p:sp>
        <p:nvSpPr>
          <p:cNvPr id="4" name="Text 2"/>
          <p:cNvSpPr/>
          <p:nvPr/>
        </p:nvSpPr>
        <p:spPr>
          <a:xfrm>
            <a:off x="548640" y="1463040"/>
            <a:ext cx="10972800" cy="411480"/>
          </a:xfrm>
          <a:prstGeom prst="rect">
            <a:avLst/>
          </a:prstGeom>
          <a:noFill/>
          <a:ln/>
        </p:spPr>
        <p:txBody>
          <a:bodyPr wrap="square" rtlCol="0" anchor="ctr"/>
          <a:lstStyle/>
          <a:p>
            <a:pPr marL="0" indent="0">
              <a:buNone/>
            </a:pPr>
            <a:r>
              <a:rPr lang="en-US" sz="1350" i="1" dirty="0">
                <a:solidFill>
                  <a:srgbClr val="5B6472"/>
                </a:solidFill>
                <a:latin typeface="Calibri" pitchFamily="34" charset="0"/>
                <a:ea typeface="Calibri" pitchFamily="34" charset="-122"/>
                <a:cs typeface="Calibri" pitchFamily="34" charset="-120"/>
              </a:rPr>
              <a:t>Education, marital status, and property area show mild effects — real, but far smaller than credit history.</a:t>
            </a:r>
            <a:endParaRPr lang="en-US" sz="1350" dirty="0"/>
          </a:p>
        </p:txBody>
      </p:sp>
      <p:sp>
        <p:nvSpPr>
          <p:cNvPr id="5" name="Shape 3"/>
          <p:cNvSpPr/>
          <p:nvPr/>
        </p:nvSpPr>
        <p:spPr>
          <a:xfrm>
            <a:off x="548640" y="2103120"/>
            <a:ext cx="11064240" cy="1143000"/>
          </a:xfrm>
          <a:prstGeom prst="roundRect">
            <a:avLst>
              <a:gd name="adj" fmla="val 4800"/>
            </a:avLst>
          </a:prstGeom>
          <a:solidFill>
            <a:srgbClr val="F4F6FB"/>
          </a:solidFill>
          <a:ln/>
        </p:spPr>
      </p:sp>
      <p:sp>
        <p:nvSpPr>
          <p:cNvPr id="6" name="Text 4"/>
          <p:cNvSpPr/>
          <p:nvPr/>
        </p:nvSpPr>
        <p:spPr>
          <a:xfrm>
            <a:off x="822960" y="2103120"/>
            <a:ext cx="2377440" cy="11430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Education</a:t>
            </a:r>
            <a:endParaRPr lang="en-US" sz="1500" dirty="0"/>
          </a:p>
        </p:txBody>
      </p:sp>
      <p:sp>
        <p:nvSpPr>
          <p:cNvPr id="7" name="Shape 5"/>
          <p:cNvSpPr/>
          <p:nvPr/>
        </p:nvSpPr>
        <p:spPr>
          <a:xfrm>
            <a:off x="3657600" y="2304288"/>
            <a:ext cx="2926080" cy="292608"/>
          </a:xfrm>
          <a:prstGeom prst="rect">
            <a:avLst/>
          </a:prstGeom>
          <a:solidFill>
            <a:srgbClr val="2E7D32"/>
          </a:solidFill>
          <a:ln/>
        </p:spPr>
      </p:sp>
      <p:sp>
        <p:nvSpPr>
          <p:cNvPr id="8" name="Text 6"/>
          <p:cNvSpPr/>
          <p:nvPr/>
        </p:nvSpPr>
        <p:spPr>
          <a:xfrm>
            <a:off x="3657600" y="2231136"/>
            <a:ext cx="3840480" cy="45720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Graduate  —  70.8%</a:t>
            </a:r>
            <a:endParaRPr lang="en-US" sz="1250" dirty="0"/>
          </a:p>
        </p:txBody>
      </p:sp>
      <p:sp>
        <p:nvSpPr>
          <p:cNvPr id="9" name="Shape 7"/>
          <p:cNvSpPr/>
          <p:nvPr/>
        </p:nvSpPr>
        <p:spPr>
          <a:xfrm>
            <a:off x="3657600" y="2779776"/>
            <a:ext cx="2529323" cy="292608"/>
          </a:xfrm>
          <a:prstGeom prst="rect">
            <a:avLst/>
          </a:prstGeom>
          <a:solidFill>
            <a:srgbClr val="9AA5B1"/>
          </a:solidFill>
          <a:ln/>
        </p:spPr>
      </p:sp>
      <p:sp>
        <p:nvSpPr>
          <p:cNvPr id="10" name="Text 8"/>
          <p:cNvSpPr/>
          <p:nvPr/>
        </p:nvSpPr>
        <p:spPr>
          <a:xfrm>
            <a:off x="3657600" y="2706624"/>
            <a:ext cx="3840480" cy="45720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Not Graduate  —  61.2%</a:t>
            </a:r>
            <a:endParaRPr lang="en-US" sz="1250" dirty="0"/>
          </a:p>
        </p:txBody>
      </p:sp>
      <p:sp>
        <p:nvSpPr>
          <p:cNvPr id="11" name="Shape 9"/>
          <p:cNvSpPr/>
          <p:nvPr/>
        </p:nvSpPr>
        <p:spPr>
          <a:xfrm>
            <a:off x="548640" y="3429000"/>
            <a:ext cx="11064240" cy="1143000"/>
          </a:xfrm>
          <a:prstGeom prst="roundRect">
            <a:avLst>
              <a:gd name="adj" fmla="val 4800"/>
            </a:avLst>
          </a:prstGeom>
          <a:solidFill>
            <a:srgbClr val="F4F6FB"/>
          </a:solidFill>
          <a:ln/>
        </p:spPr>
      </p:sp>
      <p:sp>
        <p:nvSpPr>
          <p:cNvPr id="12" name="Text 10"/>
          <p:cNvSpPr/>
          <p:nvPr/>
        </p:nvSpPr>
        <p:spPr>
          <a:xfrm>
            <a:off x="822960" y="3429000"/>
            <a:ext cx="2377440" cy="11430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Marital Status</a:t>
            </a:r>
            <a:endParaRPr lang="en-US" sz="1500" dirty="0"/>
          </a:p>
        </p:txBody>
      </p:sp>
      <p:sp>
        <p:nvSpPr>
          <p:cNvPr id="13" name="Shape 11"/>
          <p:cNvSpPr/>
          <p:nvPr/>
        </p:nvSpPr>
        <p:spPr>
          <a:xfrm>
            <a:off x="3657600" y="3630168"/>
            <a:ext cx="2926080" cy="292608"/>
          </a:xfrm>
          <a:prstGeom prst="rect">
            <a:avLst/>
          </a:prstGeom>
          <a:solidFill>
            <a:srgbClr val="2E7D32"/>
          </a:solidFill>
          <a:ln/>
        </p:spPr>
      </p:sp>
      <p:sp>
        <p:nvSpPr>
          <p:cNvPr id="14" name="Text 12"/>
          <p:cNvSpPr/>
          <p:nvPr/>
        </p:nvSpPr>
        <p:spPr>
          <a:xfrm>
            <a:off x="3657600" y="3557016"/>
            <a:ext cx="3840480" cy="45720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Married  —  71.8%</a:t>
            </a:r>
            <a:endParaRPr lang="en-US" sz="1250" dirty="0"/>
          </a:p>
        </p:txBody>
      </p:sp>
      <p:sp>
        <p:nvSpPr>
          <p:cNvPr id="15" name="Shape 13"/>
          <p:cNvSpPr/>
          <p:nvPr/>
        </p:nvSpPr>
        <p:spPr>
          <a:xfrm>
            <a:off x="3657600" y="4105656"/>
            <a:ext cx="2563376" cy="292608"/>
          </a:xfrm>
          <a:prstGeom prst="rect">
            <a:avLst/>
          </a:prstGeom>
          <a:solidFill>
            <a:srgbClr val="9AA5B1"/>
          </a:solidFill>
          <a:ln/>
        </p:spPr>
      </p:sp>
      <p:sp>
        <p:nvSpPr>
          <p:cNvPr id="16" name="Text 14"/>
          <p:cNvSpPr/>
          <p:nvPr/>
        </p:nvSpPr>
        <p:spPr>
          <a:xfrm>
            <a:off x="3657600" y="4032504"/>
            <a:ext cx="3840480" cy="45720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Unmarried  —  62.9%</a:t>
            </a:r>
            <a:endParaRPr lang="en-US" sz="1250" dirty="0"/>
          </a:p>
        </p:txBody>
      </p:sp>
      <p:sp>
        <p:nvSpPr>
          <p:cNvPr id="17" name="Shape 15"/>
          <p:cNvSpPr/>
          <p:nvPr/>
        </p:nvSpPr>
        <p:spPr>
          <a:xfrm>
            <a:off x="548640" y="4754880"/>
            <a:ext cx="11064240" cy="1143000"/>
          </a:xfrm>
          <a:prstGeom prst="roundRect">
            <a:avLst>
              <a:gd name="adj" fmla="val 4800"/>
            </a:avLst>
          </a:prstGeom>
          <a:solidFill>
            <a:srgbClr val="F4F6FB"/>
          </a:solidFill>
          <a:ln/>
        </p:spPr>
      </p:sp>
      <p:sp>
        <p:nvSpPr>
          <p:cNvPr id="18" name="Text 16"/>
          <p:cNvSpPr/>
          <p:nvPr/>
        </p:nvSpPr>
        <p:spPr>
          <a:xfrm>
            <a:off x="822960" y="4754880"/>
            <a:ext cx="2377440" cy="11430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Property Area</a:t>
            </a:r>
            <a:endParaRPr lang="en-US" sz="1500" dirty="0"/>
          </a:p>
        </p:txBody>
      </p:sp>
      <p:sp>
        <p:nvSpPr>
          <p:cNvPr id="19" name="Shape 17"/>
          <p:cNvSpPr/>
          <p:nvPr/>
        </p:nvSpPr>
        <p:spPr>
          <a:xfrm>
            <a:off x="3657600" y="4956048"/>
            <a:ext cx="2926080" cy="292608"/>
          </a:xfrm>
          <a:prstGeom prst="rect">
            <a:avLst/>
          </a:prstGeom>
          <a:solidFill>
            <a:srgbClr val="2E7D32"/>
          </a:solidFill>
          <a:ln/>
        </p:spPr>
      </p:sp>
      <p:sp>
        <p:nvSpPr>
          <p:cNvPr id="20" name="Text 18"/>
          <p:cNvSpPr/>
          <p:nvPr/>
        </p:nvSpPr>
        <p:spPr>
          <a:xfrm>
            <a:off x="3657600" y="4882896"/>
            <a:ext cx="3840480" cy="45720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Semiurban  —  76.8%</a:t>
            </a:r>
            <a:endParaRPr lang="en-US" sz="1250" dirty="0"/>
          </a:p>
        </p:txBody>
      </p:sp>
      <p:sp>
        <p:nvSpPr>
          <p:cNvPr id="21" name="Shape 19"/>
          <p:cNvSpPr/>
          <p:nvPr/>
        </p:nvSpPr>
        <p:spPr>
          <a:xfrm>
            <a:off x="3657600" y="5431536"/>
            <a:ext cx="2343150" cy="292608"/>
          </a:xfrm>
          <a:prstGeom prst="rect">
            <a:avLst/>
          </a:prstGeom>
          <a:solidFill>
            <a:srgbClr val="9AA5B1"/>
          </a:solidFill>
          <a:ln/>
        </p:spPr>
      </p:sp>
      <p:sp>
        <p:nvSpPr>
          <p:cNvPr id="22" name="Text 20"/>
          <p:cNvSpPr/>
          <p:nvPr/>
        </p:nvSpPr>
        <p:spPr>
          <a:xfrm>
            <a:off x="3657600" y="5358384"/>
            <a:ext cx="3840480" cy="45720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Rural  —  61.5%</a:t>
            </a:r>
            <a:endParaRPr lang="en-US" sz="1250" dirty="0"/>
          </a:p>
        </p:txBody>
      </p:sp>
      <p:sp>
        <p:nvSpPr>
          <p:cNvPr id="23" name="Text 21"/>
          <p:cNvSpPr/>
          <p:nvPr/>
        </p:nvSpPr>
        <p:spPr>
          <a:xfrm>
            <a:off x="548640" y="6126480"/>
            <a:ext cx="11064240" cy="457200"/>
          </a:xfrm>
          <a:prstGeom prst="rect">
            <a:avLst/>
          </a:prstGeom>
          <a:noFill/>
          <a:ln/>
        </p:spPr>
        <p:txBody>
          <a:bodyPr wrap="square"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Gender, Self-Employment status, and Dependents were also examined but showed negligible variation, and are omitted for brevity.</a:t>
            </a:r>
            <a:endParaRPr lang="en-US" sz="1150" dirty="0"/>
          </a:p>
        </p:txBody>
      </p:sp>
      <p:sp>
        <p:nvSpPr>
          <p:cNvPr id="24" name="Text 22"/>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3 · PREDICTION MODEL</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Comparing Three Algorithms</a:t>
            </a:r>
            <a:endParaRPr lang="en-US" sz="3000" dirty="0"/>
          </a:p>
        </p:txBody>
      </p:sp>
      <p:graphicFrame>
        <p:nvGraphicFramePr>
          <p:cNvPr id="4" name="Chart 0"/>
          <p:cNvGraphicFramePr/>
          <p:nvPr/>
        </p:nvGraphicFramePr>
        <p:xfrm>
          <a:off x="548640" y="1508760"/>
          <a:ext cx="11064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5852160"/>
            <a:ext cx="11064240" cy="320040"/>
          </a:xfrm>
          <a:prstGeom prst="rect">
            <a:avLst/>
          </a:prstGeom>
          <a:noFill/>
          <a:ln/>
        </p:spPr>
        <p:txBody>
          <a:bodyPr wrap="square"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All values in %  ·  75/25 train-test split, random_state = 0</a:t>
            </a:r>
            <a:endParaRPr lang="en-US" sz="1150" dirty="0"/>
          </a:p>
        </p:txBody>
      </p:sp>
      <p:sp>
        <p:nvSpPr>
          <p:cNvPr id="6" name="Text 3"/>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3 · PREDICTION MODEL</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Random Forest Won</a:t>
            </a:r>
            <a:endParaRPr lang="en-US" sz="3000" dirty="0"/>
          </a:p>
        </p:txBody>
      </p:sp>
      <p:sp>
        <p:nvSpPr>
          <p:cNvPr id="4" name="Text 2"/>
          <p:cNvSpPr/>
          <p:nvPr/>
        </p:nvSpPr>
        <p:spPr>
          <a:xfrm>
            <a:off x="548640" y="1463040"/>
            <a:ext cx="10972800" cy="457200"/>
          </a:xfrm>
          <a:prstGeom prst="rect">
            <a:avLst/>
          </a:prstGeom>
          <a:noFill/>
          <a:ln/>
        </p:spPr>
        <p:txBody>
          <a:bodyPr wrap="square" rtlCol="0" anchor="ctr"/>
          <a:lstStyle/>
          <a:p>
            <a:pPr marL="0" indent="0">
              <a:buNone/>
            </a:pPr>
            <a:r>
              <a:rPr lang="en-US" sz="1350" i="1" dirty="0">
                <a:solidFill>
                  <a:srgbClr val="5B6472"/>
                </a:solidFill>
                <a:latin typeface="Calibri" pitchFamily="34" charset="0"/>
                <a:ea typeface="Calibri" pitchFamily="34" charset="-122"/>
                <a:cs typeface="Calibri" pitchFamily="34" charset="-120"/>
              </a:rPr>
              <a:t>Logistic Regression scores highest on paper — but a Credit Risk System must catch genuinely risky applicants.</a:t>
            </a:r>
            <a:endParaRPr lang="en-US" sz="1350" dirty="0"/>
          </a:p>
        </p:txBody>
      </p:sp>
      <p:graphicFrame>
        <p:nvGraphicFramePr>
          <p:cNvPr id="5" name="Chart 0"/>
          <p:cNvGraphicFramePr/>
          <p:nvPr/>
        </p:nvGraphicFramePr>
        <p:xfrm>
          <a:off x="548640" y="2148840"/>
          <a:ext cx="60350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903720" y="2148840"/>
            <a:ext cx="4709160" cy="3840480"/>
          </a:xfrm>
          <a:prstGeom prst="roundRect">
            <a:avLst>
              <a:gd name="adj" fmla="val 1667"/>
            </a:avLst>
          </a:prstGeom>
          <a:solidFill>
            <a:srgbClr val="1E2761"/>
          </a:solidFill>
          <a:ln/>
        </p:spPr>
      </p:sp>
      <p:sp>
        <p:nvSpPr>
          <p:cNvPr id="7" name="Text 4"/>
          <p:cNvSpPr/>
          <p:nvPr/>
        </p:nvSpPr>
        <p:spPr>
          <a:xfrm>
            <a:off x="7223760" y="2377440"/>
            <a:ext cx="4114800" cy="457200"/>
          </a:xfrm>
          <a:prstGeom prst="rect">
            <a:avLst/>
          </a:prstGeom>
          <a:noFill/>
          <a:ln/>
        </p:spPr>
        <p:txBody>
          <a:bodyPr wrap="square" rtlCol="0" anchor="ctr"/>
          <a:lstStyle/>
          <a:p>
            <a:pPr marL="0" indent="0">
              <a:buNone/>
            </a:pPr>
            <a:r>
              <a:rPr lang="en-US" sz="1500" b="1" dirty="0">
                <a:solidFill>
                  <a:srgbClr val="B08D57"/>
                </a:solidFill>
                <a:latin typeface="Calibri" pitchFamily="34" charset="0"/>
                <a:ea typeface="Calibri" pitchFamily="34" charset="-122"/>
                <a:cs typeface="Calibri" pitchFamily="34" charset="-120"/>
              </a:rPr>
              <a:t>Final model: Random Forest</a:t>
            </a:r>
            <a:endParaRPr lang="en-US" sz="1500" dirty="0"/>
          </a:p>
        </p:txBody>
      </p:sp>
      <p:sp>
        <p:nvSpPr>
          <p:cNvPr id="8" name="Text 5"/>
          <p:cNvSpPr/>
          <p:nvPr/>
        </p:nvSpPr>
        <p:spPr>
          <a:xfrm>
            <a:off x="7223760" y="2971800"/>
            <a:ext cx="274320" cy="548640"/>
          </a:xfrm>
          <a:prstGeom prst="rect">
            <a:avLst/>
          </a:prstGeom>
          <a:noFill/>
          <a:ln/>
        </p:spPr>
        <p:txBody>
          <a:bodyPr wrap="square" rtlCol="0" anchor="ctr"/>
          <a:lstStyle/>
          <a:p>
            <a:pPr marL="0" indent="0">
              <a:buNone/>
            </a:pPr>
            <a:r>
              <a:rPr lang="en-US" sz="1300" b="1" dirty="0">
                <a:solidFill>
                  <a:srgbClr val="B08D57"/>
                </a:solidFill>
              </a:rPr>
              <a:t>▸</a:t>
            </a:r>
            <a:endParaRPr lang="en-US" sz="1300" dirty="0"/>
          </a:p>
        </p:txBody>
      </p:sp>
      <p:sp>
        <p:nvSpPr>
          <p:cNvPr id="9" name="Text 6"/>
          <p:cNvSpPr/>
          <p:nvPr/>
        </p:nvSpPr>
        <p:spPr>
          <a:xfrm>
            <a:off x="7543800" y="2971800"/>
            <a:ext cx="3931920" cy="68580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Correctly identifies 58% of genuinely risky applicants — vs. only 47% for Logistic Regression</a:t>
            </a:r>
            <a:endParaRPr lang="en-US" sz="1150" dirty="0"/>
          </a:p>
        </p:txBody>
      </p:sp>
      <p:sp>
        <p:nvSpPr>
          <p:cNvPr id="10" name="Text 7"/>
          <p:cNvSpPr/>
          <p:nvPr/>
        </p:nvSpPr>
        <p:spPr>
          <a:xfrm>
            <a:off x="7223760" y="3703320"/>
            <a:ext cx="274320" cy="548640"/>
          </a:xfrm>
          <a:prstGeom prst="rect">
            <a:avLst/>
          </a:prstGeom>
          <a:noFill/>
          <a:ln/>
        </p:spPr>
        <p:txBody>
          <a:bodyPr wrap="square" rtlCol="0" anchor="ctr"/>
          <a:lstStyle/>
          <a:p>
            <a:pPr marL="0" indent="0">
              <a:buNone/>
            </a:pPr>
            <a:r>
              <a:rPr lang="en-US" sz="1300" b="1" dirty="0">
                <a:solidFill>
                  <a:srgbClr val="B08D57"/>
                </a:solidFill>
              </a:rPr>
              <a:t>▸</a:t>
            </a:r>
            <a:endParaRPr lang="en-US" sz="1300" dirty="0"/>
          </a:p>
        </p:txBody>
      </p:sp>
      <p:sp>
        <p:nvSpPr>
          <p:cNvPr id="11" name="Text 8"/>
          <p:cNvSpPr/>
          <p:nvPr/>
        </p:nvSpPr>
        <p:spPr>
          <a:xfrm>
            <a:off x="7543800" y="3703320"/>
            <a:ext cx="3931920" cy="68580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A missed risky applicant (false approval) is costlier than an overly-cautious rejection</a:t>
            </a:r>
            <a:endParaRPr lang="en-US" sz="1150" dirty="0"/>
          </a:p>
        </p:txBody>
      </p:sp>
      <p:sp>
        <p:nvSpPr>
          <p:cNvPr id="12" name="Text 9"/>
          <p:cNvSpPr/>
          <p:nvPr/>
        </p:nvSpPr>
        <p:spPr>
          <a:xfrm>
            <a:off x="7223760" y="4434840"/>
            <a:ext cx="274320" cy="548640"/>
          </a:xfrm>
          <a:prstGeom prst="rect">
            <a:avLst/>
          </a:prstGeom>
          <a:noFill/>
          <a:ln/>
        </p:spPr>
        <p:txBody>
          <a:bodyPr wrap="square" rtlCol="0" anchor="ctr"/>
          <a:lstStyle/>
          <a:p>
            <a:pPr marL="0" indent="0">
              <a:buNone/>
            </a:pPr>
            <a:r>
              <a:rPr lang="en-US" sz="1300" b="1" dirty="0">
                <a:solidFill>
                  <a:srgbClr val="B08D57"/>
                </a:solidFill>
              </a:rPr>
              <a:t>▸</a:t>
            </a:r>
            <a:endParaRPr lang="en-US" sz="1300" dirty="0"/>
          </a:p>
        </p:txBody>
      </p:sp>
      <p:sp>
        <p:nvSpPr>
          <p:cNvPr id="13" name="Text 10"/>
          <p:cNvSpPr/>
          <p:nvPr/>
        </p:nvSpPr>
        <p:spPr>
          <a:xfrm>
            <a:off x="7543800" y="4434840"/>
            <a:ext cx="3931920" cy="68580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Strong balance of accuracy (79.9%) and risk detection</a:t>
            </a:r>
            <a:endParaRPr lang="en-US" sz="1150" dirty="0"/>
          </a:p>
        </p:txBody>
      </p:sp>
      <p:sp>
        <p:nvSpPr>
          <p:cNvPr id="14" name="Text 11"/>
          <p:cNvSpPr/>
          <p:nvPr/>
        </p:nvSpPr>
        <p:spPr>
          <a:xfrm>
            <a:off x="7223760" y="5166360"/>
            <a:ext cx="274320" cy="548640"/>
          </a:xfrm>
          <a:prstGeom prst="rect">
            <a:avLst/>
          </a:prstGeom>
          <a:noFill/>
          <a:ln/>
        </p:spPr>
        <p:txBody>
          <a:bodyPr wrap="square" rtlCol="0" anchor="ctr"/>
          <a:lstStyle/>
          <a:p>
            <a:pPr marL="0" indent="0">
              <a:buNone/>
            </a:pPr>
            <a:r>
              <a:rPr lang="en-US" sz="1300" b="1" dirty="0">
                <a:solidFill>
                  <a:srgbClr val="B08D57"/>
                </a:solidFill>
              </a:rPr>
              <a:t>▸</a:t>
            </a:r>
            <a:endParaRPr lang="en-US" sz="1300" dirty="0"/>
          </a:p>
        </p:txBody>
      </p:sp>
      <p:sp>
        <p:nvSpPr>
          <p:cNvPr id="15" name="Text 12"/>
          <p:cNvSpPr/>
          <p:nvPr/>
        </p:nvSpPr>
        <p:spPr>
          <a:xfrm>
            <a:off x="7543800" y="5166360"/>
            <a:ext cx="3931920" cy="68580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Logistic Regression coefficients kept as a supplementary, explainable tool</a:t>
            </a:r>
            <a:endParaRPr lang="en-US" sz="1150" dirty="0"/>
          </a:p>
        </p:txBody>
      </p:sp>
      <p:sp>
        <p:nvSpPr>
          <p:cNvPr id="16" name="Text 13"/>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4 · RISK SCORE DASHBOARD</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Live Applicant Prediction</a:t>
            </a:r>
            <a:endParaRPr lang="en-US" sz="3000" dirty="0"/>
          </a:p>
        </p:txBody>
      </p:sp>
      <p:sp>
        <p:nvSpPr>
          <p:cNvPr id="4" name="Text 2"/>
          <p:cNvSpPr/>
          <p:nvPr/>
        </p:nvSpPr>
        <p:spPr>
          <a:xfrm>
            <a:off x="548640" y="1463040"/>
            <a:ext cx="10972800" cy="411480"/>
          </a:xfrm>
          <a:prstGeom prst="rect">
            <a:avLst/>
          </a:prstGeom>
          <a:noFill/>
          <a:ln/>
        </p:spPr>
        <p:txBody>
          <a:bodyPr wrap="square" rtlCol="0" anchor="ctr"/>
          <a:lstStyle/>
          <a:p>
            <a:pPr marL="0" indent="0">
              <a:buNone/>
            </a:pPr>
            <a:r>
              <a:rPr lang="en-US" sz="1350" i="1" dirty="0">
                <a:solidFill>
                  <a:srgbClr val="5B6472"/>
                </a:solidFill>
                <a:latin typeface="Calibri" pitchFamily="34" charset="0"/>
                <a:ea typeface="Calibri" pitchFamily="34" charset="-122"/>
                <a:cs typeface="Calibri" pitchFamily="34" charset="-120"/>
              </a:rPr>
              <a:t>An interactive Streamlit dashboard that takes applicant details and instantly returns a risk assessment.</a:t>
            </a:r>
            <a:endParaRPr lang="en-US" sz="1350" dirty="0"/>
          </a:p>
        </p:txBody>
      </p:sp>
      <p:sp>
        <p:nvSpPr>
          <p:cNvPr id="5" name="Shape 3"/>
          <p:cNvSpPr/>
          <p:nvPr/>
        </p:nvSpPr>
        <p:spPr>
          <a:xfrm>
            <a:off x="548640" y="2011680"/>
            <a:ext cx="7315200" cy="4297680"/>
          </a:xfrm>
          <a:prstGeom prst="roundRect">
            <a:avLst>
              <a:gd name="adj" fmla="val 1702"/>
            </a:avLst>
          </a:prstGeom>
          <a:solidFill>
            <a:srgbClr val="F4F6FB"/>
          </a:solidFill>
          <a:ln w="19050">
            <a:solidFill>
              <a:srgbClr val="B08D57"/>
            </a:solidFill>
            <a:prstDash val="dash"/>
          </a:ln>
        </p:spPr>
      </p:sp>
      <p:sp>
        <p:nvSpPr>
          <p:cNvPr id="6" name="Text 4"/>
          <p:cNvSpPr/>
          <p:nvPr/>
        </p:nvSpPr>
        <p:spPr>
          <a:xfrm>
            <a:off x="548640" y="2011680"/>
            <a:ext cx="7315200" cy="429768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  </a:t>
            </a:r>
            <a:r>
              <a:rPr lang="en-US" sz="1400" b="1" dirty="0">
                <a:solidFill>
                  <a:srgbClr val="1E2761"/>
                </a:solidFill>
                <a:latin typeface="Calibri" pitchFamily="34" charset="0"/>
                <a:ea typeface="Calibri" pitchFamily="34" charset="-122"/>
                <a:cs typeface="Calibri" pitchFamily="34" charset="-120"/>
              </a:rPr>
              <a:t>PASTE SCREENSHOT HERE</a:t>
            </a:r>
            <a:endParaRPr lang="en-US" sz="2000" dirty="0"/>
          </a:p>
          <a:p>
            <a:pPr marL="0" indent="0" algn="ctr">
              <a:buNone/>
            </a:pPr>
            <a:endParaRPr lang="en-US" sz="2000" dirty="0"/>
          </a:p>
          <a:p>
            <a:pPr marL="0" indent="0" algn="ctr">
              <a:buNone/>
            </a:pP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Screenshot 1: Sidebar input form + Prediction Result</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(approval probability, risk category, recommendation banner)</a:t>
            </a:r>
            <a:endParaRPr lang="en-US" sz="2000" dirty="0"/>
          </a:p>
        </p:txBody>
      </p:sp>
      <p:sp>
        <p:nvSpPr>
          <p:cNvPr id="7" name="Text 5"/>
          <p:cNvSpPr/>
          <p:nvPr/>
        </p:nvSpPr>
        <p:spPr>
          <a:xfrm>
            <a:off x="8138160" y="2103120"/>
            <a:ext cx="274320" cy="457200"/>
          </a:xfrm>
          <a:prstGeom prst="rect">
            <a:avLst/>
          </a:prstGeom>
          <a:noFill/>
          <a:ln/>
        </p:spPr>
        <p:txBody>
          <a:bodyPr wrap="square" rtlCol="0" anchor="ctr"/>
          <a:lstStyle/>
          <a:p>
            <a:pPr marL="0" indent="0">
              <a:buNone/>
            </a:pPr>
            <a:r>
              <a:rPr lang="en-US" sz="1000" dirty="0">
                <a:solidFill>
                  <a:srgbClr val="B08D57"/>
                </a:solidFill>
              </a:rPr>
              <a:t>●</a:t>
            </a:r>
            <a:endParaRPr lang="en-US" sz="1000" dirty="0"/>
          </a:p>
        </p:txBody>
      </p:sp>
      <p:sp>
        <p:nvSpPr>
          <p:cNvPr id="8" name="Text 6"/>
          <p:cNvSpPr/>
          <p:nvPr/>
        </p:nvSpPr>
        <p:spPr>
          <a:xfrm>
            <a:off x="8412480" y="2103120"/>
            <a:ext cx="3200400" cy="82296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Sidebar form collects all 11 applicant attributes</a:t>
            </a:r>
            <a:endParaRPr lang="en-US" sz="1200" dirty="0"/>
          </a:p>
        </p:txBody>
      </p:sp>
      <p:sp>
        <p:nvSpPr>
          <p:cNvPr id="9" name="Text 7"/>
          <p:cNvSpPr/>
          <p:nvPr/>
        </p:nvSpPr>
        <p:spPr>
          <a:xfrm>
            <a:off x="8138160" y="3063240"/>
            <a:ext cx="274320" cy="457200"/>
          </a:xfrm>
          <a:prstGeom prst="rect">
            <a:avLst/>
          </a:prstGeom>
          <a:noFill/>
          <a:ln/>
        </p:spPr>
        <p:txBody>
          <a:bodyPr wrap="square" rtlCol="0" anchor="ctr"/>
          <a:lstStyle/>
          <a:p>
            <a:pPr marL="0" indent="0">
              <a:buNone/>
            </a:pPr>
            <a:r>
              <a:rPr lang="en-US" sz="1000" dirty="0">
                <a:solidFill>
                  <a:srgbClr val="B08D57"/>
                </a:solidFill>
              </a:rPr>
              <a:t>●</a:t>
            </a:r>
            <a:endParaRPr lang="en-US" sz="1000" dirty="0"/>
          </a:p>
        </p:txBody>
      </p:sp>
      <p:sp>
        <p:nvSpPr>
          <p:cNvPr id="10" name="Text 8"/>
          <p:cNvSpPr/>
          <p:nvPr/>
        </p:nvSpPr>
        <p:spPr>
          <a:xfrm>
            <a:off x="8412480" y="3063240"/>
            <a:ext cx="3200400" cy="82296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Random Forest model + saved scaler generate a live prediction</a:t>
            </a:r>
            <a:endParaRPr lang="en-US" sz="1200" dirty="0"/>
          </a:p>
        </p:txBody>
      </p:sp>
      <p:sp>
        <p:nvSpPr>
          <p:cNvPr id="11" name="Text 9"/>
          <p:cNvSpPr/>
          <p:nvPr/>
        </p:nvSpPr>
        <p:spPr>
          <a:xfrm>
            <a:off x="8138160" y="4023360"/>
            <a:ext cx="274320" cy="457200"/>
          </a:xfrm>
          <a:prstGeom prst="rect">
            <a:avLst/>
          </a:prstGeom>
          <a:noFill/>
          <a:ln/>
        </p:spPr>
        <p:txBody>
          <a:bodyPr wrap="square" rtlCol="0" anchor="ctr"/>
          <a:lstStyle/>
          <a:p>
            <a:pPr marL="0" indent="0">
              <a:buNone/>
            </a:pPr>
            <a:r>
              <a:rPr lang="en-US" sz="1000" dirty="0">
                <a:solidFill>
                  <a:srgbClr val="B08D57"/>
                </a:solidFill>
              </a:rPr>
              <a:t>●</a:t>
            </a:r>
            <a:endParaRPr lang="en-US" sz="1000" dirty="0"/>
          </a:p>
        </p:txBody>
      </p:sp>
      <p:sp>
        <p:nvSpPr>
          <p:cNvPr id="12" name="Text 10"/>
          <p:cNvSpPr/>
          <p:nvPr/>
        </p:nvSpPr>
        <p:spPr>
          <a:xfrm>
            <a:off x="8412480" y="4023360"/>
            <a:ext cx="3200400" cy="82296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Risk category: Low / Medium / High</a:t>
            </a:r>
            <a:endParaRPr lang="en-US" sz="1200" dirty="0"/>
          </a:p>
        </p:txBody>
      </p:sp>
      <p:sp>
        <p:nvSpPr>
          <p:cNvPr id="13" name="Text 11"/>
          <p:cNvSpPr/>
          <p:nvPr/>
        </p:nvSpPr>
        <p:spPr>
          <a:xfrm>
            <a:off x="8138160" y="4983480"/>
            <a:ext cx="274320" cy="457200"/>
          </a:xfrm>
          <a:prstGeom prst="rect">
            <a:avLst/>
          </a:prstGeom>
          <a:noFill/>
          <a:ln/>
        </p:spPr>
        <p:txBody>
          <a:bodyPr wrap="square" rtlCol="0" anchor="ctr"/>
          <a:lstStyle/>
          <a:p>
            <a:pPr marL="0" indent="0">
              <a:buNone/>
            </a:pPr>
            <a:r>
              <a:rPr lang="en-US" sz="1000" dirty="0">
                <a:solidFill>
                  <a:srgbClr val="B08D57"/>
                </a:solidFill>
              </a:rPr>
              <a:t>●</a:t>
            </a:r>
            <a:endParaRPr lang="en-US" sz="1000" dirty="0"/>
          </a:p>
        </p:txBody>
      </p:sp>
      <p:sp>
        <p:nvSpPr>
          <p:cNvPr id="14" name="Text 12"/>
          <p:cNvSpPr/>
          <p:nvPr/>
        </p:nvSpPr>
        <p:spPr>
          <a:xfrm>
            <a:off x="8412480" y="4983480"/>
            <a:ext cx="3200400" cy="82296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Approval probability displayed as a percentage</a:t>
            </a:r>
            <a:endParaRPr lang="en-US" sz="1200" dirty="0"/>
          </a:p>
        </p:txBody>
      </p:sp>
      <p:sp>
        <p:nvSpPr>
          <p:cNvPr id="15" name="Text 13"/>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10</a:t>
            </a:r>
            <a:endParaRPr lang="en-US" sz="1000" dirty="0"/>
          </a:p>
        </p:txBody>
      </p:sp>
      <p:pic>
        <p:nvPicPr>
          <p:cNvPr id="17" name="Picture 16">
            <a:extLst>
              <a:ext uri="{FF2B5EF4-FFF2-40B4-BE49-F238E27FC236}">
                <a16:creationId xmlns:a16="http://schemas.microsoft.com/office/drawing/2014/main" id="{26774AFF-C140-9AF5-5998-374569C4CD77}"/>
              </a:ext>
            </a:extLst>
          </p:cNvPr>
          <p:cNvPicPr>
            <a:picLocks noChangeAspect="1"/>
          </p:cNvPicPr>
          <p:nvPr/>
        </p:nvPicPr>
        <p:blipFill>
          <a:blip r:embed="rId3"/>
          <a:stretch>
            <a:fillRect/>
          </a:stretch>
        </p:blipFill>
        <p:spPr>
          <a:xfrm>
            <a:off x="502920" y="1933956"/>
            <a:ext cx="7406640" cy="44531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4 · RISK SCORE DASHBOARD</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Applicant Analysis &amp; Dataset Insights</a:t>
            </a:r>
            <a:endParaRPr lang="en-US" sz="3000" dirty="0"/>
          </a:p>
        </p:txBody>
      </p:sp>
      <p:sp>
        <p:nvSpPr>
          <p:cNvPr id="4" name="Shape 2"/>
          <p:cNvSpPr/>
          <p:nvPr/>
        </p:nvSpPr>
        <p:spPr>
          <a:xfrm>
            <a:off x="548640" y="1508760"/>
            <a:ext cx="5349240" cy="4709160"/>
          </a:xfrm>
          <a:prstGeom prst="roundRect">
            <a:avLst>
              <a:gd name="adj" fmla="val 1553"/>
            </a:avLst>
          </a:prstGeom>
          <a:solidFill>
            <a:srgbClr val="F4F6FB"/>
          </a:solidFill>
          <a:ln w="19050">
            <a:solidFill>
              <a:srgbClr val="B08D57"/>
            </a:solidFill>
            <a:prstDash val="dash"/>
          </a:ln>
        </p:spPr>
      </p:sp>
      <p:sp>
        <p:nvSpPr>
          <p:cNvPr id="5" name="Text 3"/>
          <p:cNvSpPr/>
          <p:nvPr/>
        </p:nvSpPr>
        <p:spPr>
          <a:xfrm>
            <a:off x="548640" y="1508760"/>
            <a:ext cx="5349240" cy="470916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  </a:t>
            </a:r>
            <a:r>
              <a:rPr lang="en-US" sz="1400" b="1" dirty="0">
                <a:solidFill>
                  <a:srgbClr val="1E2761"/>
                </a:solidFill>
                <a:latin typeface="Calibri" pitchFamily="34" charset="0"/>
                <a:ea typeface="Calibri" pitchFamily="34" charset="-122"/>
                <a:cs typeface="Calibri" pitchFamily="34" charset="-120"/>
              </a:rPr>
              <a:t>PASTE SCREENSHOT HERE</a:t>
            </a:r>
            <a:endParaRPr lang="en-US" sz="2000" dirty="0"/>
          </a:p>
          <a:p>
            <a:pPr marL="0" indent="0" algn="ctr">
              <a:buNone/>
            </a:pPr>
            <a:endParaRPr lang="en-US" sz="2000" dirty="0"/>
          </a:p>
          <a:p>
            <a:pPr marL="0" indent="0" algn="ctr">
              <a:buNone/>
            </a:pP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Screenshot 2:</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"This Applicant's Analysis" section</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(gauge chart, income-to-loan ratio,</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similar-applicants comparison,</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feature importance chart)</a:t>
            </a:r>
            <a:endParaRPr lang="en-US" sz="2000" dirty="0"/>
          </a:p>
        </p:txBody>
      </p:sp>
      <p:sp>
        <p:nvSpPr>
          <p:cNvPr id="6" name="Shape 4"/>
          <p:cNvSpPr/>
          <p:nvPr/>
        </p:nvSpPr>
        <p:spPr>
          <a:xfrm>
            <a:off x="6263640" y="1508760"/>
            <a:ext cx="5349240" cy="4709160"/>
          </a:xfrm>
          <a:prstGeom prst="roundRect">
            <a:avLst>
              <a:gd name="adj" fmla="val 1553"/>
            </a:avLst>
          </a:prstGeom>
          <a:solidFill>
            <a:srgbClr val="F4F6FB"/>
          </a:solidFill>
          <a:ln w="19050">
            <a:solidFill>
              <a:srgbClr val="B08D57"/>
            </a:solidFill>
            <a:prstDash val="dash"/>
          </a:ln>
        </p:spPr>
      </p:sp>
      <p:sp>
        <p:nvSpPr>
          <p:cNvPr id="7" name="Text 5"/>
          <p:cNvSpPr/>
          <p:nvPr/>
        </p:nvSpPr>
        <p:spPr>
          <a:xfrm>
            <a:off x="6263640" y="1508760"/>
            <a:ext cx="5349240" cy="470916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  </a:t>
            </a:r>
            <a:r>
              <a:rPr lang="en-US" sz="1400" b="1" dirty="0">
                <a:solidFill>
                  <a:srgbClr val="1E2761"/>
                </a:solidFill>
                <a:latin typeface="Calibri" pitchFamily="34" charset="0"/>
                <a:ea typeface="Calibri" pitchFamily="34" charset="-122"/>
                <a:cs typeface="Calibri" pitchFamily="34" charset="-120"/>
              </a:rPr>
              <a:t>PASTE SCREENSHOT HERE</a:t>
            </a:r>
            <a:endParaRPr lang="en-US" sz="2000" dirty="0"/>
          </a:p>
          <a:p>
            <a:pPr marL="0" indent="0" algn="ctr">
              <a:buNone/>
            </a:pPr>
            <a:endParaRPr lang="en-US" sz="2000" dirty="0"/>
          </a:p>
          <a:p>
            <a:pPr marL="0" indent="0" algn="ctr">
              <a:buNone/>
            </a:pP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Screenshot 3:</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"Dataset Insights" tabs</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(Income Patterns, Credit History Impact,</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Property Area Trends)</a:t>
            </a:r>
            <a:endParaRPr lang="en-US" sz="2000" dirty="0"/>
          </a:p>
        </p:txBody>
      </p:sp>
      <p:sp>
        <p:nvSpPr>
          <p:cNvPr id="8" name="Text 6"/>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11</a:t>
            </a:r>
            <a:endParaRPr lang="en-US" sz="1000" dirty="0"/>
          </a:p>
        </p:txBody>
      </p:sp>
      <p:pic>
        <p:nvPicPr>
          <p:cNvPr id="10" name="Picture 9">
            <a:extLst>
              <a:ext uri="{FF2B5EF4-FFF2-40B4-BE49-F238E27FC236}">
                <a16:creationId xmlns:a16="http://schemas.microsoft.com/office/drawing/2014/main" id="{21344C4C-D2B2-E089-B082-9D9BEE0E43B6}"/>
              </a:ext>
            </a:extLst>
          </p:cNvPr>
          <p:cNvPicPr>
            <a:picLocks noChangeAspect="1"/>
          </p:cNvPicPr>
          <p:nvPr/>
        </p:nvPicPr>
        <p:blipFill>
          <a:blip r:embed="rId3"/>
          <a:stretch>
            <a:fillRect/>
          </a:stretch>
        </p:blipFill>
        <p:spPr>
          <a:xfrm>
            <a:off x="457201" y="1481328"/>
            <a:ext cx="5547360" cy="2867624"/>
          </a:xfrm>
          <a:prstGeom prst="rect">
            <a:avLst/>
          </a:prstGeom>
        </p:spPr>
      </p:pic>
      <p:pic>
        <p:nvPicPr>
          <p:cNvPr id="14" name="Picture 13">
            <a:extLst>
              <a:ext uri="{FF2B5EF4-FFF2-40B4-BE49-F238E27FC236}">
                <a16:creationId xmlns:a16="http://schemas.microsoft.com/office/drawing/2014/main" id="{9711C741-789D-61A9-7A92-DB1CAD3597C7}"/>
              </a:ext>
            </a:extLst>
          </p:cNvPr>
          <p:cNvPicPr>
            <a:picLocks noChangeAspect="1"/>
          </p:cNvPicPr>
          <p:nvPr/>
        </p:nvPicPr>
        <p:blipFill>
          <a:blip r:embed="rId4"/>
          <a:stretch>
            <a:fillRect/>
          </a:stretch>
        </p:blipFill>
        <p:spPr>
          <a:xfrm>
            <a:off x="457200" y="4191218"/>
            <a:ext cx="5547360" cy="2191294"/>
          </a:xfrm>
          <a:prstGeom prst="rect">
            <a:avLst/>
          </a:prstGeom>
        </p:spPr>
      </p:pic>
      <p:pic>
        <p:nvPicPr>
          <p:cNvPr id="16" name="Picture 15">
            <a:extLst>
              <a:ext uri="{FF2B5EF4-FFF2-40B4-BE49-F238E27FC236}">
                <a16:creationId xmlns:a16="http://schemas.microsoft.com/office/drawing/2014/main" id="{334DA269-3CC2-6181-7F66-430494286153}"/>
              </a:ext>
            </a:extLst>
          </p:cNvPr>
          <p:cNvPicPr>
            <a:picLocks noChangeAspect="1"/>
          </p:cNvPicPr>
          <p:nvPr/>
        </p:nvPicPr>
        <p:blipFill>
          <a:blip r:embed="rId5"/>
          <a:stretch>
            <a:fillRect/>
          </a:stretch>
        </p:blipFill>
        <p:spPr>
          <a:xfrm>
            <a:off x="6187440" y="1481328"/>
            <a:ext cx="5455921" cy="2354580"/>
          </a:xfrm>
          <a:prstGeom prst="rect">
            <a:avLst/>
          </a:prstGeom>
        </p:spPr>
      </p:pic>
      <p:pic>
        <p:nvPicPr>
          <p:cNvPr id="18" name="Picture 17">
            <a:extLst>
              <a:ext uri="{FF2B5EF4-FFF2-40B4-BE49-F238E27FC236}">
                <a16:creationId xmlns:a16="http://schemas.microsoft.com/office/drawing/2014/main" id="{4023B627-D465-C742-39DA-0E8443C99B17}"/>
              </a:ext>
            </a:extLst>
          </p:cNvPr>
          <p:cNvPicPr>
            <a:picLocks noChangeAspect="1"/>
          </p:cNvPicPr>
          <p:nvPr/>
        </p:nvPicPr>
        <p:blipFill>
          <a:blip r:embed="rId6"/>
          <a:stretch>
            <a:fillRect/>
          </a:stretch>
        </p:blipFill>
        <p:spPr>
          <a:xfrm>
            <a:off x="6187440" y="3835908"/>
            <a:ext cx="5455921" cy="25466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4 · RISK SCORE DASHBOARD</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All Customers Overview</a:t>
            </a:r>
            <a:endParaRPr lang="en-US" sz="3000" dirty="0"/>
          </a:p>
        </p:txBody>
      </p:sp>
      <p:sp>
        <p:nvSpPr>
          <p:cNvPr id="4" name="Text 2"/>
          <p:cNvSpPr/>
          <p:nvPr/>
        </p:nvSpPr>
        <p:spPr>
          <a:xfrm>
            <a:off x="548640" y="1463040"/>
            <a:ext cx="10972800" cy="411480"/>
          </a:xfrm>
          <a:prstGeom prst="rect">
            <a:avLst/>
          </a:prstGeom>
          <a:noFill/>
          <a:ln/>
        </p:spPr>
        <p:txBody>
          <a:bodyPr wrap="square" rtlCol="0" anchor="ctr"/>
          <a:lstStyle/>
          <a:p>
            <a:pPr marL="0" indent="0">
              <a:buNone/>
            </a:pPr>
            <a:r>
              <a:rPr lang="en-US" sz="1350" i="1" dirty="0">
                <a:solidFill>
                  <a:srgbClr val="5B6472"/>
                </a:solidFill>
                <a:latin typeface="Calibri" pitchFamily="34" charset="0"/>
                <a:ea typeface="Calibri" pitchFamily="34" charset="-122"/>
                <a:cs typeface="Calibri" pitchFamily="34" charset="-120"/>
              </a:rPr>
              <a:t>A filterable, sortable table of the full customer base with human-readable labels.</a:t>
            </a:r>
            <a:endParaRPr lang="en-US" sz="1350" dirty="0"/>
          </a:p>
        </p:txBody>
      </p:sp>
      <p:sp>
        <p:nvSpPr>
          <p:cNvPr id="5" name="Shape 3"/>
          <p:cNvSpPr/>
          <p:nvPr/>
        </p:nvSpPr>
        <p:spPr>
          <a:xfrm>
            <a:off x="548640" y="2011680"/>
            <a:ext cx="11064240" cy="4297680"/>
          </a:xfrm>
          <a:prstGeom prst="roundRect">
            <a:avLst>
              <a:gd name="adj" fmla="val 1702"/>
            </a:avLst>
          </a:prstGeom>
          <a:solidFill>
            <a:srgbClr val="F4F6FB"/>
          </a:solidFill>
          <a:ln w="19050">
            <a:solidFill>
              <a:srgbClr val="B08D57"/>
            </a:solidFill>
            <a:prstDash val="dash"/>
          </a:ln>
        </p:spPr>
      </p:sp>
      <p:sp>
        <p:nvSpPr>
          <p:cNvPr id="6" name="Text 4"/>
          <p:cNvSpPr/>
          <p:nvPr/>
        </p:nvSpPr>
        <p:spPr>
          <a:xfrm>
            <a:off x="548640" y="2011680"/>
            <a:ext cx="11064240" cy="429768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  </a:t>
            </a:r>
            <a:r>
              <a:rPr lang="en-US" sz="1400" b="1" dirty="0">
                <a:solidFill>
                  <a:srgbClr val="1E2761"/>
                </a:solidFill>
                <a:latin typeface="Calibri" pitchFamily="34" charset="0"/>
                <a:ea typeface="Calibri" pitchFamily="34" charset="-122"/>
                <a:cs typeface="Calibri" pitchFamily="34" charset="-120"/>
              </a:rPr>
              <a:t>PASTE SCREENSHOT HERE</a:t>
            </a:r>
            <a:endParaRPr lang="en-US" sz="2000" dirty="0"/>
          </a:p>
          <a:p>
            <a:pPr marL="0" indent="0" algn="ctr">
              <a:buNone/>
            </a:pPr>
            <a:endParaRPr lang="en-US" sz="2000" dirty="0"/>
          </a:p>
          <a:p>
            <a:pPr marL="0" indent="0" algn="ctr">
              <a:buNone/>
            </a:pP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Screenshot 4: "All Customers Overview" table</a:t>
            </a:r>
            <a:endParaRPr lang="en-US" sz="2000" dirty="0"/>
          </a:p>
          <a:p>
            <a:pPr marL="0" indent="0" algn="ctr">
              <a:buNone/>
            </a:pPr>
            <a:r>
              <a:rPr lang="en-US" sz="1100" i="1" dirty="0">
                <a:solidFill>
                  <a:srgbClr val="5B6472"/>
                </a:solidFill>
                <a:latin typeface="Calibri" pitchFamily="34" charset="0"/>
                <a:ea typeface="Calibri" pitchFamily="34" charset="-122"/>
                <a:cs typeface="Calibri" pitchFamily="34" charset="-120"/>
              </a:rPr>
              <a:t>with the Property Area filter dropdown visible</a:t>
            </a:r>
            <a:endParaRPr lang="en-US" sz="2000" dirty="0"/>
          </a:p>
        </p:txBody>
      </p:sp>
      <p:sp>
        <p:nvSpPr>
          <p:cNvPr id="7" name="Text 5"/>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pic>
        <p:nvPicPr>
          <p:cNvPr id="9" name="Picture 8">
            <a:extLst>
              <a:ext uri="{FF2B5EF4-FFF2-40B4-BE49-F238E27FC236}">
                <a16:creationId xmlns:a16="http://schemas.microsoft.com/office/drawing/2014/main" id="{C2CBA9F2-D22A-004F-EADC-2D64B290B0BE}"/>
              </a:ext>
            </a:extLst>
          </p:cNvPr>
          <p:cNvPicPr>
            <a:picLocks noChangeAspect="1"/>
          </p:cNvPicPr>
          <p:nvPr/>
        </p:nvPicPr>
        <p:blipFill>
          <a:blip r:embed="rId3"/>
          <a:stretch>
            <a:fillRect/>
          </a:stretch>
        </p:blipFill>
        <p:spPr>
          <a:xfrm>
            <a:off x="548640" y="1993392"/>
            <a:ext cx="11094720" cy="43159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MODULE 5</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Final Recommendation System</a:t>
            </a:r>
            <a:endParaRPr lang="en-US" sz="3000" dirty="0"/>
          </a:p>
        </p:txBody>
      </p:sp>
      <p:sp>
        <p:nvSpPr>
          <p:cNvPr id="4" name="Text 2"/>
          <p:cNvSpPr/>
          <p:nvPr/>
        </p:nvSpPr>
        <p:spPr>
          <a:xfrm>
            <a:off x="548640" y="1463040"/>
            <a:ext cx="10972800" cy="411480"/>
          </a:xfrm>
          <a:prstGeom prst="rect">
            <a:avLst/>
          </a:prstGeom>
          <a:noFill/>
          <a:ln/>
        </p:spPr>
        <p:txBody>
          <a:bodyPr wrap="square" rtlCol="0" anchor="ctr"/>
          <a:lstStyle/>
          <a:p>
            <a:pPr marL="0" indent="0">
              <a:buNone/>
            </a:pPr>
            <a:r>
              <a:rPr lang="en-US" sz="1350" i="1" dirty="0">
                <a:solidFill>
                  <a:srgbClr val="5B6472"/>
                </a:solidFill>
                <a:latin typeface="Calibri" pitchFamily="34" charset="0"/>
                <a:ea typeface="Calibri" pitchFamily="34" charset="-122"/>
                <a:cs typeface="Calibri" pitchFamily="34" charset="-120"/>
              </a:rPr>
              <a:t>Built directly into the dashboard — the recommendation always stays consistent with the displayed risk score.</a:t>
            </a:r>
            <a:endParaRPr lang="en-US" sz="1350" dirty="0"/>
          </a:p>
        </p:txBody>
      </p:sp>
      <p:sp>
        <p:nvSpPr>
          <p:cNvPr id="5" name="Shape 3"/>
          <p:cNvSpPr/>
          <p:nvPr/>
        </p:nvSpPr>
        <p:spPr>
          <a:xfrm>
            <a:off x="548640" y="2194560"/>
            <a:ext cx="3383280" cy="3474720"/>
          </a:xfrm>
          <a:prstGeom prst="roundRect">
            <a:avLst>
              <a:gd name="adj" fmla="val 2162"/>
            </a:avLst>
          </a:prstGeom>
          <a:solidFill>
            <a:srgbClr val="F4F6FB"/>
          </a:solidFill>
          <a:ln/>
        </p:spPr>
      </p:sp>
      <p:sp>
        <p:nvSpPr>
          <p:cNvPr id="6" name="Shape 4"/>
          <p:cNvSpPr/>
          <p:nvPr/>
        </p:nvSpPr>
        <p:spPr>
          <a:xfrm>
            <a:off x="548640" y="2194560"/>
            <a:ext cx="3383280" cy="164592"/>
          </a:xfrm>
          <a:prstGeom prst="roundRect">
            <a:avLst/>
          </a:prstGeom>
          <a:solidFill>
            <a:srgbClr val="2E7D32"/>
          </a:solidFill>
          <a:ln/>
        </p:spPr>
      </p:sp>
      <p:sp>
        <p:nvSpPr>
          <p:cNvPr id="7" name="Text 5"/>
          <p:cNvSpPr/>
          <p:nvPr/>
        </p:nvSpPr>
        <p:spPr>
          <a:xfrm>
            <a:off x="731520" y="2514600"/>
            <a:ext cx="3017520" cy="731520"/>
          </a:xfrm>
          <a:prstGeom prst="rect">
            <a:avLst/>
          </a:prstGeom>
          <a:noFill/>
          <a:ln/>
        </p:spPr>
        <p:txBody>
          <a:bodyPr wrap="square" rtlCol="0" anchor="ctr"/>
          <a:lstStyle/>
          <a:p>
            <a:pPr marL="0" indent="0">
              <a:buNone/>
            </a:pPr>
            <a:r>
              <a:rPr lang="en-US" sz="3000" b="1" dirty="0">
                <a:solidFill>
                  <a:srgbClr val="2E7D32"/>
                </a:solidFill>
                <a:latin typeface="Cambria" pitchFamily="34" charset="0"/>
                <a:ea typeface="Cambria" pitchFamily="34" charset="-122"/>
                <a:cs typeface="Cambria" pitchFamily="34" charset="-120"/>
              </a:rPr>
              <a:t>≥ 80%</a:t>
            </a:r>
            <a:endParaRPr lang="en-US" sz="3000" dirty="0"/>
          </a:p>
        </p:txBody>
      </p:sp>
      <p:sp>
        <p:nvSpPr>
          <p:cNvPr id="8" name="Text 6"/>
          <p:cNvSpPr/>
          <p:nvPr/>
        </p:nvSpPr>
        <p:spPr>
          <a:xfrm>
            <a:off x="731520" y="3246120"/>
            <a:ext cx="3017520" cy="50292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Approve Loan</a:t>
            </a:r>
            <a:endParaRPr lang="en-US" sz="1600" dirty="0"/>
          </a:p>
        </p:txBody>
      </p:sp>
      <p:sp>
        <p:nvSpPr>
          <p:cNvPr id="9" name="Text 7"/>
          <p:cNvSpPr/>
          <p:nvPr/>
        </p:nvSpPr>
        <p:spPr>
          <a:xfrm>
            <a:off x="731520" y="3794760"/>
            <a:ext cx="3017520" cy="146304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High predicted approval probability</a:t>
            </a:r>
            <a:endParaRPr lang="en-US" sz="1200" dirty="0"/>
          </a:p>
        </p:txBody>
      </p:sp>
      <p:sp>
        <p:nvSpPr>
          <p:cNvPr id="10" name="Shape 8"/>
          <p:cNvSpPr/>
          <p:nvPr/>
        </p:nvSpPr>
        <p:spPr>
          <a:xfrm>
            <a:off x="4160520" y="2194560"/>
            <a:ext cx="3383280" cy="3474720"/>
          </a:xfrm>
          <a:prstGeom prst="roundRect">
            <a:avLst>
              <a:gd name="adj" fmla="val 2162"/>
            </a:avLst>
          </a:prstGeom>
          <a:solidFill>
            <a:srgbClr val="F4F6FB"/>
          </a:solidFill>
          <a:ln/>
        </p:spPr>
      </p:sp>
      <p:sp>
        <p:nvSpPr>
          <p:cNvPr id="11" name="Shape 9"/>
          <p:cNvSpPr/>
          <p:nvPr/>
        </p:nvSpPr>
        <p:spPr>
          <a:xfrm>
            <a:off x="4160520" y="2194560"/>
            <a:ext cx="3383280" cy="164592"/>
          </a:xfrm>
          <a:prstGeom prst="roundRect">
            <a:avLst/>
          </a:prstGeom>
          <a:solidFill>
            <a:srgbClr val="B8860B"/>
          </a:solidFill>
          <a:ln/>
        </p:spPr>
      </p:sp>
      <p:sp>
        <p:nvSpPr>
          <p:cNvPr id="12" name="Text 10"/>
          <p:cNvSpPr/>
          <p:nvPr/>
        </p:nvSpPr>
        <p:spPr>
          <a:xfrm>
            <a:off x="4343400" y="2514600"/>
            <a:ext cx="3017520" cy="731520"/>
          </a:xfrm>
          <a:prstGeom prst="rect">
            <a:avLst/>
          </a:prstGeom>
          <a:noFill/>
          <a:ln/>
        </p:spPr>
        <p:txBody>
          <a:bodyPr wrap="square" rtlCol="0" anchor="ctr"/>
          <a:lstStyle/>
          <a:p>
            <a:pPr marL="0" indent="0">
              <a:buNone/>
            </a:pPr>
            <a:r>
              <a:rPr lang="en-US" sz="3000" b="1" dirty="0">
                <a:solidFill>
                  <a:srgbClr val="B8860B"/>
                </a:solidFill>
                <a:latin typeface="Cambria" pitchFamily="34" charset="0"/>
                <a:ea typeface="Cambria" pitchFamily="34" charset="-122"/>
                <a:cs typeface="Cambria" pitchFamily="34" charset="-120"/>
              </a:rPr>
              <a:t>40–79%</a:t>
            </a:r>
            <a:endParaRPr lang="en-US" sz="3000" dirty="0"/>
          </a:p>
        </p:txBody>
      </p:sp>
      <p:sp>
        <p:nvSpPr>
          <p:cNvPr id="13" name="Text 11"/>
          <p:cNvSpPr/>
          <p:nvPr/>
        </p:nvSpPr>
        <p:spPr>
          <a:xfrm>
            <a:off x="4343400" y="3246120"/>
            <a:ext cx="3017520" cy="50292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Review Manually</a:t>
            </a:r>
            <a:endParaRPr lang="en-US" sz="1600" dirty="0"/>
          </a:p>
        </p:txBody>
      </p:sp>
      <p:sp>
        <p:nvSpPr>
          <p:cNvPr id="14" name="Text 12"/>
          <p:cNvSpPr/>
          <p:nvPr/>
        </p:nvSpPr>
        <p:spPr>
          <a:xfrm>
            <a:off x="4343400" y="3794760"/>
            <a:ext cx="3017520" cy="146304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Borderline case — flagged for human review</a:t>
            </a:r>
            <a:endParaRPr lang="en-US" sz="1200" dirty="0"/>
          </a:p>
        </p:txBody>
      </p:sp>
      <p:sp>
        <p:nvSpPr>
          <p:cNvPr id="15" name="Shape 13"/>
          <p:cNvSpPr/>
          <p:nvPr/>
        </p:nvSpPr>
        <p:spPr>
          <a:xfrm>
            <a:off x="7772400" y="2194560"/>
            <a:ext cx="3383280" cy="3474720"/>
          </a:xfrm>
          <a:prstGeom prst="roundRect">
            <a:avLst>
              <a:gd name="adj" fmla="val 2162"/>
            </a:avLst>
          </a:prstGeom>
          <a:solidFill>
            <a:srgbClr val="F4F6FB"/>
          </a:solidFill>
          <a:ln/>
        </p:spPr>
      </p:sp>
      <p:sp>
        <p:nvSpPr>
          <p:cNvPr id="16" name="Shape 14"/>
          <p:cNvSpPr/>
          <p:nvPr/>
        </p:nvSpPr>
        <p:spPr>
          <a:xfrm>
            <a:off x="7772400" y="2194560"/>
            <a:ext cx="3383280" cy="164592"/>
          </a:xfrm>
          <a:prstGeom prst="roundRect">
            <a:avLst/>
          </a:prstGeom>
          <a:solidFill>
            <a:srgbClr val="B23A48"/>
          </a:solidFill>
          <a:ln/>
        </p:spPr>
      </p:sp>
      <p:sp>
        <p:nvSpPr>
          <p:cNvPr id="17" name="Text 15"/>
          <p:cNvSpPr/>
          <p:nvPr/>
        </p:nvSpPr>
        <p:spPr>
          <a:xfrm>
            <a:off x="7955280" y="2514600"/>
            <a:ext cx="3017520" cy="731520"/>
          </a:xfrm>
          <a:prstGeom prst="rect">
            <a:avLst/>
          </a:prstGeom>
          <a:noFill/>
          <a:ln/>
        </p:spPr>
        <p:txBody>
          <a:bodyPr wrap="square" rtlCol="0" anchor="ctr"/>
          <a:lstStyle/>
          <a:p>
            <a:pPr marL="0" indent="0">
              <a:buNone/>
            </a:pPr>
            <a:r>
              <a:rPr lang="en-US" sz="3000" b="1" dirty="0">
                <a:solidFill>
                  <a:srgbClr val="B23A48"/>
                </a:solidFill>
                <a:latin typeface="Cambria" pitchFamily="34" charset="0"/>
                <a:ea typeface="Cambria" pitchFamily="34" charset="-122"/>
                <a:cs typeface="Cambria" pitchFamily="34" charset="-120"/>
              </a:rPr>
              <a:t>&lt; 40%</a:t>
            </a:r>
            <a:endParaRPr lang="en-US" sz="3000" dirty="0"/>
          </a:p>
        </p:txBody>
      </p:sp>
      <p:sp>
        <p:nvSpPr>
          <p:cNvPr id="18" name="Text 16"/>
          <p:cNvSpPr/>
          <p:nvPr/>
        </p:nvSpPr>
        <p:spPr>
          <a:xfrm>
            <a:off x="7955280" y="3246120"/>
            <a:ext cx="3017520" cy="50292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Reject Application</a:t>
            </a:r>
            <a:endParaRPr lang="en-US" sz="1600" dirty="0"/>
          </a:p>
        </p:txBody>
      </p:sp>
      <p:sp>
        <p:nvSpPr>
          <p:cNvPr id="19" name="Text 17"/>
          <p:cNvSpPr/>
          <p:nvPr/>
        </p:nvSpPr>
        <p:spPr>
          <a:xfrm>
            <a:off x="7955280" y="3794760"/>
            <a:ext cx="3017520" cy="1463040"/>
          </a:xfrm>
          <a:prstGeom prst="rect">
            <a:avLst/>
          </a:prstGeom>
          <a:noFill/>
          <a:ln/>
        </p:spPr>
        <p:txBody>
          <a:bodyPr wrap="square" rtlCol="0" anchor="t"/>
          <a:lstStyle/>
          <a:p>
            <a:pPr marL="0" indent="0">
              <a:buNone/>
            </a:pPr>
            <a:r>
              <a:rPr lang="en-US" sz="1200" dirty="0">
                <a:solidFill>
                  <a:srgbClr val="5B6472"/>
                </a:solidFill>
                <a:latin typeface="Calibri" pitchFamily="34" charset="0"/>
                <a:ea typeface="Calibri" pitchFamily="34" charset="-122"/>
                <a:cs typeface="Calibri" pitchFamily="34" charset="-120"/>
              </a:rPr>
              <a:t>Low predicted approval probability</a:t>
            </a:r>
            <a:endParaRPr lang="en-US" sz="1200" dirty="0"/>
          </a:p>
        </p:txBody>
      </p:sp>
      <p:sp>
        <p:nvSpPr>
          <p:cNvPr id="20" name="Text 18"/>
          <p:cNvSpPr/>
          <p:nvPr/>
        </p:nvSpPr>
        <p:spPr>
          <a:xfrm>
            <a:off x="548640" y="5943600"/>
            <a:ext cx="11064240" cy="457200"/>
          </a:xfrm>
          <a:prstGeom prst="rect">
            <a:avLst/>
          </a:prstGeom>
          <a:noFill/>
          <a:ln/>
        </p:spPr>
        <p:txBody>
          <a:bodyPr wrap="square"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This tiered logic avoids a rigid binary decision — mirroring how real lenders balance automation with human oversight.</a:t>
            </a:r>
            <a:endParaRPr lang="en-US" sz="1250" dirty="0"/>
          </a:p>
        </p:txBody>
      </p:sp>
      <p:sp>
        <p:nvSpPr>
          <p:cNvPr id="21" name="Text 19"/>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HONEST ASSESSMENT</a:t>
            </a:r>
            <a:endParaRPr lang="en-US" sz="1300" dirty="0"/>
          </a:p>
        </p:txBody>
      </p:sp>
      <p:sp>
        <p:nvSpPr>
          <p:cNvPr id="3" name="Text 1"/>
          <p:cNvSpPr/>
          <p:nvPr/>
        </p:nvSpPr>
        <p:spPr>
          <a:xfrm>
            <a:off x="548640" y="658368"/>
            <a:ext cx="1097280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Limitations</a:t>
            </a:r>
            <a:endParaRPr lang="en-US" sz="3000" dirty="0"/>
          </a:p>
        </p:txBody>
      </p:sp>
      <p:sp>
        <p:nvSpPr>
          <p:cNvPr id="4" name="Shape 2"/>
          <p:cNvSpPr/>
          <p:nvPr/>
        </p:nvSpPr>
        <p:spPr>
          <a:xfrm>
            <a:off x="548640" y="1600200"/>
            <a:ext cx="5349240" cy="1481328"/>
          </a:xfrm>
          <a:prstGeom prst="roundRect">
            <a:avLst>
              <a:gd name="adj" fmla="val 3704"/>
            </a:avLst>
          </a:prstGeom>
          <a:solidFill>
            <a:srgbClr val="F4F6FB"/>
          </a:solidFill>
          <a:ln/>
        </p:spPr>
      </p:sp>
      <p:sp>
        <p:nvSpPr>
          <p:cNvPr id="5" name="Shape 3"/>
          <p:cNvSpPr/>
          <p:nvPr/>
        </p:nvSpPr>
        <p:spPr>
          <a:xfrm>
            <a:off x="548640" y="1600200"/>
            <a:ext cx="82296" cy="1481328"/>
          </a:xfrm>
          <a:prstGeom prst="rect">
            <a:avLst/>
          </a:prstGeom>
          <a:solidFill>
            <a:srgbClr val="B08D57"/>
          </a:solidFill>
          <a:ln/>
        </p:spPr>
      </p:sp>
      <p:sp>
        <p:nvSpPr>
          <p:cNvPr id="6" name="Text 4"/>
          <p:cNvSpPr/>
          <p:nvPr/>
        </p:nvSpPr>
        <p:spPr>
          <a:xfrm>
            <a:off x="822960" y="1728216"/>
            <a:ext cx="48920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Dataset size</a:t>
            </a:r>
            <a:endParaRPr lang="en-US" sz="1350" dirty="0"/>
          </a:p>
        </p:txBody>
      </p:sp>
      <p:sp>
        <p:nvSpPr>
          <p:cNvPr id="7" name="Text 5"/>
          <p:cNvSpPr/>
          <p:nvPr/>
        </p:nvSpPr>
        <p:spPr>
          <a:xfrm>
            <a:off x="822960" y="2130552"/>
            <a:ext cx="4846320" cy="841248"/>
          </a:xfrm>
          <a:prstGeom prst="rect">
            <a:avLst/>
          </a:prstGeom>
          <a:noFill/>
          <a:ln/>
        </p:spPr>
        <p:txBody>
          <a:bodyPr wrap="square" rtlCol="0" anchor="t"/>
          <a:lstStyle/>
          <a:p>
            <a:pPr marL="0" indent="0">
              <a:buNone/>
            </a:pPr>
            <a:r>
              <a:rPr lang="en-US" sz="1150" dirty="0">
                <a:solidFill>
                  <a:srgbClr val="5B6472"/>
                </a:solidFill>
                <a:latin typeface="Calibri" pitchFamily="34" charset="0"/>
                <a:ea typeface="Calibri" pitchFamily="34" charset="-122"/>
                <a:cs typeface="Calibri" pitchFamily="34" charset="-120"/>
              </a:rPr>
              <a:t>Only 614 records — small relative to real-world lending data.</a:t>
            </a:r>
            <a:endParaRPr lang="en-US" sz="1150" dirty="0"/>
          </a:p>
        </p:txBody>
      </p:sp>
      <p:sp>
        <p:nvSpPr>
          <p:cNvPr id="8" name="Shape 6"/>
          <p:cNvSpPr/>
          <p:nvPr/>
        </p:nvSpPr>
        <p:spPr>
          <a:xfrm>
            <a:off x="6263640" y="1600200"/>
            <a:ext cx="5349240" cy="1481328"/>
          </a:xfrm>
          <a:prstGeom prst="roundRect">
            <a:avLst>
              <a:gd name="adj" fmla="val 3704"/>
            </a:avLst>
          </a:prstGeom>
          <a:solidFill>
            <a:srgbClr val="F4F6FB"/>
          </a:solidFill>
          <a:ln/>
        </p:spPr>
      </p:sp>
      <p:sp>
        <p:nvSpPr>
          <p:cNvPr id="9" name="Shape 7"/>
          <p:cNvSpPr/>
          <p:nvPr/>
        </p:nvSpPr>
        <p:spPr>
          <a:xfrm>
            <a:off x="6263640" y="1600200"/>
            <a:ext cx="82296" cy="1481328"/>
          </a:xfrm>
          <a:prstGeom prst="rect">
            <a:avLst/>
          </a:prstGeom>
          <a:solidFill>
            <a:srgbClr val="B08D57"/>
          </a:solidFill>
          <a:ln/>
        </p:spPr>
      </p:sp>
      <p:sp>
        <p:nvSpPr>
          <p:cNvPr id="10" name="Text 8"/>
          <p:cNvSpPr/>
          <p:nvPr/>
        </p:nvSpPr>
        <p:spPr>
          <a:xfrm>
            <a:off x="6537960" y="1728216"/>
            <a:ext cx="48920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Dependents capping</a:t>
            </a:r>
            <a:endParaRPr lang="en-US" sz="1350" dirty="0"/>
          </a:p>
        </p:txBody>
      </p:sp>
      <p:sp>
        <p:nvSpPr>
          <p:cNvPr id="11" name="Text 9"/>
          <p:cNvSpPr/>
          <p:nvPr/>
        </p:nvSpPr>
        <p:spPr>
          <a:xfrm>
            <a:off x="6537960" y="2130552"/>
            <a:ext cx="4846320" cy="841248"/>
          </a:xfrm>
          <a:prstGeom prst="rect">
            <a:avLst/>
          </a:prstGeom>
          <a:noFill/>
          <a:ln/>
        </p:spPr>
        <p:txBody>
          <a:bodyPr wrap="square" rtlCol="0" anchor="t"/>
          <a:lstStyle/>
          <a:p>
            <a:pPr marL="0" indent="0">
              <a:buNone/>
            </a:pPr>
            <a:r>
              <a:rPr lang="en-US" sz="1150" dirty="0">
                <a:solidFill>
                  <a:srgbClr val="5B6472"/>
                </a:solidFill>
                <a:latin typeface="Calibri" pitchFamily="34" charset="0"/>
                <a:ea typeface="Calibri" pitchFamily="34" charset="-122"/>
                <a:cs typeface="Calibri" pitchFamily="34" charset="-120"/>
              </a:rPr>
              <a:t>“3+” encoded as 3; model unreliable beyond that range (dashboard input restricted to 0–3).</a:t>
            </a:r>
            <a:endParaRPr lang="en-US" sz="1150" dirty="0"/>
          </a:p>
        </p:txBody>
      </p:sp>
      <p:sp>
        <p:nvSpPr>
          <p:cNvPr id="12" name="Shape 10"/>
          <p:cNvSpPr/>
          <p:nvPr/>
        </p:nvSpPr>
        <p:spPr>
          <a:xfrm>
            <a:off x="548640" y="3310128"/>
            <a:ext cx="5349240" cy="1481328"/>
          </a:xfrm>
          <a:prstGeom prst="roundRect">
            <a:avLst>
              <a:gd name="adj" fmla="val 3704"/>
            </a:avLst>
          </a:prstGeom>
          <a:solidFill>
            <a:srgbClr val="F4F6FB"/>
          </a:solidFill>
          <a:ln/>
        </p:spPr>
      </p:sp>
      <p:sp>
        <p:nvSpPr>
          <p:cNvPr id="13" name="Shape 11"/>
          <p:cNvSpPr/>
          <p:nvPr/>
        </p:nvSpPr>
        <p:spPr>
          <a:xfrm>
            <a:off x="548640" y="3310128"/>
            <a:ext cx="82296" cy="1481328"/>
          </a:xfrm>
          <a:prstGeom prst="rect">
            <a:avLst/>
          </a:prstGeom>
          <a:solidFill>
            <a:srgbClr val="B08D57"/>
          </a:solidFill>
          <a:ln/>
        </p:spPr>
      </p:sp>
      <p:sp>
        <p:nvSpPr>
          <p:cNvPr id="14" name="Text 12"/>
          <p:cNvSpPr/>
          <p:nvPr/>
        </p:nvSpPr>
        <p:spPr>
          <a:xfrm>
            <a:off x="822960" y="3438144"/>
            <a:ext cx="48920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Proxy target variable</a:t>
            </a:r>
            <a:endParaRPr lang="en-US" sz="1350" dirty="0"/>
          </a:p>
        </p:txBody>
      </p:sp>
      <p:sp>
        <p:nvSpPr>
          <p:cNvPr id="15" name="Text 13"/>
          <p:cNvSpPr/>
          <p:nvPr/>
        </p:nvSpPr>
        <p:spPr>
          <a:xfrm>
            <a:off x="822960" y="3840480"/>
            <a:ext cx="4846320" cy="841248"/>
          </a:xfrm>
          <a:prstGeom prst="rect">
            <a:avLst/>
          </a:prstGeom>
          <a:noFill/>
          <a:ln/>
        </p:spPr>
        <p:txBody>
          <a:bodyPr wrap="square" rtlCol="0" anchor="t"/>
          <a:lstStyle/>
          <a:p>
            <a:pPr marL="0" indent="0">
              <a:buNone/>
            </a:pPr>
            <a:r>
              <a:rPr lang="en-US" sz="1150" dirty="0">
                <a:solidFill>
                  <a:srgbClr val="5B6472"/>
                </a:solidFill>
                <a:latin typeface="Calibri" pitchFamily="34" charset="0"/>
                <a:ea typeface="Calibri" pitchFamily="34" charset="-122"/>
                <a:cs typeface="Calibri" pitchFamily="34" charset="-120"/>
              </a:rPr>
              <a:t>Loan_Status (approval decision) used as a proxy for repayment risk — not actual default outcomes.</a:t>
            </a:r>
            <a:endParaRPr lang="en-US" sz="1150" dirty="0"/>
          </a:p>
        </p:txBody>
      </p:sp>
      <p:sp>
        <p:nvSpPr>
          <p:cNvPr id="16" name="Shape 14"/>
          <p:cNvSpPr/>
          <p:nvPr/>
        </p:nvSpPr>
        <p:spPr>
          <a:xfrm>
            <a:off x="6263640" y="3310128"/>
            <a:ext cx="5349240" cy="1481328"/>
          </a:xfrm>
          <a:prstGeom prst="roundRect">
            <a:avLst>
              <a:gd name="adj" fmla="val 3704"/>
            </a:avLst>
          </a:prstGeom>
          <a:solidFill>
            <a:srgbClr val="F4F6FB"/>
          </a:solidFill>
          <a:ln/>
        </p:spPr>
      </p:sp>
      <p:sp>
        <p:nvSpPr>
          <p:cNvPr id="17" name="Shape 15"/>
          <p:cNvSpPr/>
          <p:nvPr/>
        </p:nvSpPr>
        <p:spPr>
          <a:xfrm>
            <a:off x="6263640" y="3310128"/>
            <a:ext cx="82296" cy="1481328"/>
          </a:xfrm>
          <a:prstGeom prst="rect">
            <a:avLst/>
          </a:prstGeom>
          <a:solidFill>
            <a:srgbClr val="B08D57"/>
          </a:solidFill>
          <a:ln/>
        </p:spPr>
      </p:sp>
      <p:sp>
        <p:nvSpPr>
          <p:cNvPr id="18" name="Text 16"/>
          <p:cNvSpPr/>
          <p:nvPr/>
        </p:nvSpPr>
        <p:spPr>
          <a:xfrm>
            <a:off x="6537960" y="3438144"/>
            <a:ext cx="48920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Class imbalance</a:t>
            </a:r>
            <a:endParaRPr lang="en-US" sz="1350" dirty="0"/>
          </a:p>
        </p:txBody>
      </p:sp>
      <p:sp>
        <p:nvSpPr>
          <p:cNvPr id="19" name="Text 17"/>
          <p:cNvSpPr/>
          <p:nvPr/>
        </p:nvSpPr>
        <p:spPr>
          <a:xfrm>
            <a:off x="6537960" y="3840480"/>
            <a:ext cx="4846320" cy="841248"/>
          </a:xfrm>
          <a:prstGeom prst="rect">
            <a:avLst/>
          </a:prstGeom>
          <a:noFill/>
          <a:ln/>
        </p:spPr>
        <p:txBody>
          <a:bodyPr wrap="square" rtlCol="0" anchor="t"/>
          <a:lstStyle/>
          <a:p>
            <a:pPr marL="0" indent="0">
              <a:buNone/>
            </a:pPr>
            <a:r>
              <a:rPr lang="en-US" sz="1150" dirty="0">
                <a:solidFill>
                  <a:srgbClr val="5B6472"/>
                </a:solidFill>
                <a:latin typeface="Calibri" pitchFamily="34" charset="0"/>
                <a:ea typeface="Calibri" pitchFamily="34" charset="-122"/>
                <a:cs typeface="Calibri" pitchFamily="34" charset="-120"/>
              </a:rPr>
              <a:t>68.7% Approved vs. 31.3% Rejected; addressed via precision/recall/F1, not accuracy alone.</a:t>
            </a:r>
            <a:endParaRPr lang="en-US" sz="1150" dirty="0"/>
          </a:p>
        </p:txBody>
      </p:sp>
      <p:sp>
        <p:nvSpPr>
          <p:cNvPr id="20" name="Shape 18"/>
          <p:cNvSpPr/>
          <p:nvPr/>
        </p:nvSpPr>
        <p:spPr>
          <a:xfrm>
            <a:off x="548640" y="5020056"/>
            <a:ext cx="5349240" cy="1481328"/>
          </a:xfrm>
          <a:prstGeom prst="roundRect">
            <a:avLst>
              <a:gd name="adj" fmla="val 3704"/>
            </a:avLst>
          </a:prstGeom>
          <a:solidFill>
            <a:srgbClr val="F4F6FB"/>
          </a:solidFill>
          <a:ln/>
        </p:spPr>
      </p:sp>
      <p:sp>
        <p:nvSpPr>
          <p:cNvPr id="21" name="Shape 19"/>
          <p:cNvSpPr/>
          <p:nvPr/>
        </p:nvSpPr>
        <p:spPr>
          <a:xfrm>
            <a:off x="548640" y="5020056"/>
            <a:ext cx="82296" cy="1481328"/>
          </a:xfrm>
          <a:prstGeom prst="rect">
            <a:avLst/>
          </a:prstGeom>
          <a:solidFill>
            <a:srgbClr val="B08D57"/>
          </a:solidFill>
          <a:ln/>
        </p:spPr>
      </p:sp>
      <p:sp>
        <p:nvSpPr>
          <p:cNvPr id="22" name="Text 20"/>
          <p:cNvSpPr/>
          <p:nvPr/>
        </p:nvSpPr>
        <p:spPr>
          <a:xfrm>
            <a:off x="822960" y="5148072"/>
            <a:ext cx="48920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Feature exclusion</a:t>
            </a:r>
            <a:endParaRPr lang="en-US" sz="1350" dirty="0"/>
          </a:p>
        </p:txBody>
      </p:sp>
      <p:sp>
        <p:nvSpPr>
          <p:cNvPr id="23" name="Text 21"/>
          <p:cNvSpPr/>
          <p:nvPr/>
        </p:nvSpPr>
        <p:spPr>
          <a:xfrm>
            <a:off x="822960" y="5550408"/>
            <a:ext cx="4846320" cy="841248"/>
          </a:xfrm>
          <a:prstGeom prst="rect">
            <a:avLst/>
          </a:prstGeom>
          <a:noFill/>
          <a:ln/>
        </p:spPr>
        <p:txBody>
          <a:bodyPr wrap="square" rtlCol="0" anchor="t"/>
          <a:lstStyle/>
          <a:p>
            <a:pPr marL="0" indent="0">
              <a:buNone/>
            </a:pPr>
            <a:r>
              <a:rPr lang="en-US" sz="1150" dirty="0">
                <a:solidFill>
                  <a:srgbClr val="5B6472"/>
                </a:solidFill>
                <a:latin typeface="Calibri" pitchFamily="34" charset="0"/>
                <a:ea typeface="Calibri" pitchFamily="34" charset="-122"/>
                <a:cs typeface="Calibri" pitchFamily="34" charset="-120"/>
              </a:rPr>
              <a:t>Total_Income engineered for EDA but excluded from modeling (redundant with ApplicantIncome + CoapplicantIncome).</a:t>
            </a:r>
            <a:endParaRPr lang="en-US" sz="1150" dirty="0"/>
          </a:p>
        </p:txBody>
      </p:sp>
      <p:sp>
        <p:nvSpPr>
          <p:cNvPr id="24" name="Shape 22"/>
          <p:cNvSpPr/>
          <p:nvPr/>
        </p:nvSpPr>
        <p:spPr>
          <a:xfrm>
            <a:off x="6263640" y="5020056"/>
            <a:ext cx="5349240" cy="1481328"/>
          </a:xfrm>
          <a:prstGeom prst="roundRect">
            <a:avLst>
              <a:gd name="adj" fmla="val 3704"/>
            </a:avLst>
          </a:prstGeom>
          <a:solidFill>
            <a:srgbClr val="F4F6FB"/>
          </a:solidFill>
          <a:ln/>
        </p:spPr>
      </p:sp>
      <p:sp>
        <p:nvSpPr>
          <p:cNvPr id="25" name="Shape 23"/>
          <p:cNvSpPr/>
          <p:nvPr/>
        </p:nvSpPr>
        <p:spPr>
          <a:xfrm>
            <a:off x="6263640" y="5020056"/>
            <a:ext cx="82296" cy="1481328"/>
          </a:xfrm>
          <a:prstGeom prst="rect">
            <a:avLst/>
          </a:prstGeom>
          <a:solidFill>
            <a:srgbClr val="B08D57"/>
          </a:solidFill>
          <a:ln/>
        </p:spPr>
      </p:sp>
      <p:sp>
        <p:nvSpPr>
          <p:cNvPr id="26" name="Text 24"/>
          <p:cNvSpPr/>
          <p:nvPr/>
        </p:nvSpPr>
        <p:spPr>
          <a:xfrm>
            <a:off x="6537960" y="5148072"/>
            <a:ext cx="489204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Defined scope</a:t>
            </a:r>
            <a:endParaRPr lang="en-US" sz="1350" dirty="0"/>
          </a:p>
        </p:txBody>
      </p:sp>
      <p:sp>
        <p:nvSpPr>
          <p:cNvPr id="27" name="Text 25"/>
          <p:cNvSpPr/>
          <p:nvPr/>
        </p:nvSpPr>
        <p:spPr>
          <a:xfrm>
            <a:off x="6537960" y="5550408"/>
            <a:ext cx="4846320" cy="841248"/>
          </a:xfrm>
          <a:prstGeom prst="rect">
            <a:avLst/>
          </a:prstGeom>
          <a:noFill/>
          <a:ln/>
        </p:spPr>
        <p:txBody>
          <a:bodyPr wrap="square" rtlCol="0" anchor="t"/>
          <a:lstStyle/>
          <a:p>
            <a:pPr marL="0" indent="0">
              <a:buNone/>
            </a:pPr>
            <a:r>
              <a:rPr lang="en-US" sz="1150" dirty="0">
                <a:solidFill>
                  <a:srgbClr val="5B6472"/>
                </a:solidFill>
                <a:latin typeface="Calibri" pitchFamily="34" charset="0"/>
                <a:ea typeface="Calibri" pitchFamily="34" charset="-122"/>
                <a:cs typeface="Calibri" pitchFamily="34" charset="-120"/>
              </a:rPr>
              <a:t>No deep learning, real banking integrations, or large-scale cloud infrastructure, per project scope.</a:t>
            </a:r>
            <a:endParaRPr lang="en-US" sz="1150" dirty="0"/>
          </a:p>
        </p:txBody>
      </p:sp>
      <p:sp>
        <p:nvSpPr>
          <p:cNvPr id="28" name="Text 26"/>
          <p:cNvSpPr/>
          <p:nvPr/>
        </p:nvSpPr>
        <p:spPr>
          <a:xfrm>
            <a:off x="11612880" y="6446520"/>
            <a:ext cx="457200" cy="32004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594360"/>
            <a:ext cx="7315200" cy="365760"/>
          </a:xfrm>
          <a:prstGeom prst="rect">
            <a:avLst/>
          </a:prstGeom>
          <a:noFill/>
          <a:ln/>
        </p:spPr>
        <p:txBody>
          <a:bodyPr wrap="square" rtlCol="0" anchor="ctr"/>
          <a:lstStyle/>
          <a:p>
            <a:pPr marL="0" indent="0">
              <a:buNone/>
            </a:pPr>
            <a:r>
              <a:rPr lang="en-US" sz="1300" b="1" kern="0" spc="200" dirty="0">
                <a:solidFill>
                  <a:srgbClr val="B08D57"/>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822960" y="960120"/>
            <a:ext cx="10058400" cy="9144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Credit History Drives Approval — Not Income</a:t>
            </a:r>
            <a:endParaRPr lang="en-US" sz="3000" dirty="0"/>
          </a:p>
        </p:txBody>
      </p:sp>
      <p:sp>
        <p:nvSpPr>
          <p:cNvPr id="4" name="Text 2"/>
          <p:cNvSpPr/>
          <p:nvPr/>
        </p:nvSpPr>
        <p:spPr>
          <a:xfrm>
            <a:off x="822960" y="1965960"/>
            <a:ext cx="10241280" cy="1463040"/>
          </a:xfrm>
          <a:prstGeom prst="rect">
            <a:avLst/>
          </a:prstGeom>
          <a:noFill/>
          <a:ln/>
        </p:spPr>
        <p:txBody>
          <a:bodyPr wrap="square" rtlCol="0" anchor="t"/>
          <a:lstStyle/>
          <a:p>
            <a:pPr marL="0" indent="0">
              <a:buNone/>
            </a:pPr>
            <a:r>
              <a:rPr lang="en-US" sz="1450" dirty="0">
                <a:solidFill>
                  <a:srgbClr val="CADCFC"/>
                </a:solidFill>
                <a:latin typeface="Calibri" pitchFamily="34" charset="0"/>
                <a:ea typeface="Calibri" pitchFamily="34" charset="-122"/>
                <a:cs typeface="Calibri" pitchFamily="34" charset="-120"/>
              </a:rPr>
              <a:t>This project delivered a complete, end-to-end Credit Risk Analysis System — from data preprocessing and exploratory analysis, through model comparison, to a deployed interactive dashboard with an integrated recommendation engine. Across every chart and the correlation analysis, Credit History emerged as the dominant driver of loan approval, far outweighing income, loan amount, and demographic factors.</a:t>
            </a:r>
            <a:endParaRPr lang="en-US" sz="1450" dirty="0"/>
          </a:p>
        </p:txBody>
      </p:sp>
      <p:sp>
        <p:nvSpPr>
          <p:cNvPr id="5" name="Text 3"/>
          <p:cNvSpPr/>
          <p:nvPr/>
        </p:nvSpPr>
        <p:spPr>
          <a:xfrm>
            <a:off x="822960" y="3657600"/>
            <a:ext cx="4572000" cy="365760"/>
          </a:xfrm>
          <a:prstGeom prst="rect">
            <a:avLst/>
          </a:prstGeom>
          <a:noFill/>
          <a:ln/>
        </p:spPr>
        <p:txBody>
          <a:bodyPr wrap="square" rtlCol="0" anchor="ctr"/>
          <a:lstStyle/>
          <a:p>
            <a:pPr marL="0" indent="0">
              <a:buNone/>
            </a:pPr>
            <a:r>
              <a:rPr lang="en-US" sz="1500" b="1" dirty="0">
                <a:solidFill>
                  <a:srgbClr val="B08D57"/>
                </a:solidFill>
                <a:latin typeface="Calibri" pitchFamily="34" charset="0"/>
                <a:ea typeface="Calibri" pitchFamily="34" charset="-122"/>
                <a:cs typeface="Calibri" pitchFamily="34" charset="-120"/>
              </a:rPr>
              <a:t>Future Work</a:t>
            </a:r>
            <a:endParaRPr lang="en-US" sz="1500" dirty="0"/>
          </a:p>
        </p:txBody>
      </p:sp>
      <p:sp>
        <p:nvSpPr>
          <p:cNvPr id="6" name="Text 4"/>
          <p:cNvSpPr/>
          <p:nvPr/>
        </p:nvSpPr>
        <p:spPr>
          <a:xfrm>
            <a:off x="822960" y="4114800"/>
            <a:ext cx="100584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 Train on actual repayment/default data, not just approval decisions</a:t>
            </a:r>
            <a:endParaRPr lang="en-US" sz="1300" dirty="0"/>
          </a:p>
        </p:txBody>
      </p:sp>
      <p:sp>
        <p:nvSpPr>
          <p:cNvPr id="7" name="Text 5"/>
          <p:cNvSpPr/>
          <p:nvPr/>
        </p:nvSpPr>
        <p:spPr>
          <a:xfrm>
            <a:off x="822960" y="4617720"/>
            <a:ext cx="100584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 Incorporate additional indicators — existing debt, employment tenure</a:t>
            </a:r>
            <a:endParaRPr lang="en-US" sz="1300" dirty="0"/>
          </a:p>
        </p:txBody>
      </p:sp>
      <p:sp>
        <p:nvSpPr>
          <p:cNvPr id="8" name="Text 6"/>
          <p:cNvSpPr/>
          <p:nvPr/>
        </p:nvSpPr>
        <p:spPr>
          <a:xfrm>
            <a:off x="822960" y="5120640"/>
            <a:ext cx="100584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 Apply cross-validation for more robust performance estimates</a:t>
            </a:r>
            <a:endParaRPr lang="en-US" sz="1300" dirty="0"/>
          </a:p>
        </p:txBody>
      </p:sp>
      <p:sp>
        <p:nvSpPr>
          <p:cNvPr id="9" name="Text 7"/>
          <p:cNvSpPr/>
          <p:nvPr/>
        </p:nvSpPr>
        <p:spPr>
          <a:xfrm>
            <a:off x="822960" y="5623560"/>
            <a:ext cx="1005840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 Deploy to Streamlit Community Cloud for public accessibility</a:t>
            </a:r>
            <a:endParaRPr lang="en-US" sz="1300" dirty="0"/>
          </a:p>
        </p:txBody>
      </p:sp>
      <p:sp>
        <p:nvSpPr>
          <p:cNvPr id="10" name="Text 8"/>
          <p:cNvSpPr/>
          <p:nvPr/>
        </p:nvSpPr>
        <p:spPr>
          <a:xfrm>
            <a:off x="822960" y="6126480"/>
            <a:ext cx="548640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
        <p:nvSpPr>
          <p:cNvPr id="11" name="Shape 9"/>
          <p:cNvSpPr/>
          <p:nvPr/>
        </p:nvSpPr>
        <p:spPr>
          <a:xfrm>
            <a:off x="10424160" y="457200"/>
            <a:ext cx="1463040" cy="1463040"/>
          </a:xfrm>
          <a:prstGeom prst="ellipse">
            <a:avLst/>
          </a:prstGeom>
          <a:solidFill>
            <a:srgbClr val="B08D57">
              <a:alpha val="15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1135</Words>
  <Application>Microsoft Office PowerPoint</Application>
  <PresentationFormat>Widescreen</PresentationFormat>
  <Paragraphs>208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Sneha vishwa</cp:lastModifiedBy>
  <cp:revision>2</cp:revision>
  <dcterms:created xsi:type="dcterms:W3CDTF">2026-07-29T10:21:53Z</dcterms:created>
  <dcterms:modified xsi:type="dcterms:W3CDTF">2026-07-29T10:54:05Z</dcterms:modified>
</cp:coreProperties>
</file>